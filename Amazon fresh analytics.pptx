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Outfit"/>
      <p:regular r:id="rId26"/>
      <p:bold r:id="rId27"/>
    </p:embeddedFont>
    <p:embeddedFont>
      <p:font typeface="Outfit Medium"/>
      <p:regular r:id="rId28"/>
      <p:bold r:id="rId29"/>
    </p:embeddedFont>
    <p:embeddedFont>
      <p:font typeface="Roboto Mono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iTOnvaVbS7gNK2PcApmuOQckvU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utfit-regular.fntdata"/><Relationship Id="rId25" Type="http://schemas.openxmlformats.org/officeDocument/2006/relationships/slide" Target="slides/slide21.xml"/><Relationship Id="rId28" Type="http://schemas.openxmlformats.org/officeDocument/2006/relationships/font" Target="fonts/OutfitMedium-regular.fntdata"/><Relationship Id="rId27" Type="http://schemas.openxmlformats.org/officeDocument/2006/relationships/font" Target="fonts/Outfi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utfit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9.xml"/><Relationship Id="rId35" Type="http://schemas.openxmlformats.org/officeDocument/2006/relationships/font" Target="fonts/DMSans-bold.fntdata"/><Relationship Id="rId12" Type="http://schemas.openxmlformats.org/officeDocument/2006/relationships/slide" Target="slides/slide8.xml"/><Relationship Id="rId34" Type="http://schemas.openxmlformats.org/officeDocument/2006/relationships/font" Target="fonts/DMSans-regular.fntdata"/><Relationship Id="rId15" Type="http://schemas.openxmlformats.org/officeDocument/2006/relationships/slide" Target="slides/slide11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10.xml"/><Relationship Id="rId36" Type="http://schemas.openxmlformats.org/officeDocument/2006/relationships/font" Target="fonts/DMSans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abebe37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abebe37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5c19bb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b5c19bb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abebe378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abebe378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abebe378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abebe378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abebe378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abebe378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bebe378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abebe378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b5c19bbf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b5c19bbf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9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21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6" name="Google Shape;16;p21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1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1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1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1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3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29" name="Google Shape;29;p23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3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3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3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3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3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3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4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9" name="Google Shape;39;p24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40" name="Google Shape;40;p24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4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4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4705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4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4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4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0784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4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17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Google Shape;47;p24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i="0" sz="3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800"/>
              <a:t>Amazon Fresh Analytics </a:t>
            </a:r>
            <a:endParaRPr sz="4800"/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BY: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SRIMATHI K</a:t>
            </a:r>
            <a:endParaRPr/>
          </a:p>
        </p:txBody>
      </p:sp>
      <p:cxnSp>
        <p:nvCxnSpPr>
          <p:cNvPr id="54" name="Google Shape;54;p1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" name="Google Shape;55;p1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56" name="Google Shape;56;p1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Problem Statement</a:t>
            </a:r>
            <a:br>
              <a:rPr lang="en-US"/>
            </a:br>
            <a:endParaRPr/>
          </a:p>
        </p:txBody>
      </p:sp>
      <p:sp>
        <p:nvSpPr>
          <p:cNvPr id="81" name="Google Shape;81;p2"/>
          <p:cNvSpPr txBox="1"/>
          <p:nvPr>
            <p:ph idx="1" type="subTitle"/>
          </p:nvPr>
        </p:nvSpPr>
        <p:spPr>
          <a:xfrm>
            <a:off x="185504" y="1318014"/>
            <a:ext cx="5443898" cy="28978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</a:pPr>
            <a:r>
              <a:rPr lang="en-US"/>
              <a:t>Amazon Fresh is expanding rapidly, creating the need to manage large volumes of data across customers, products, suppliers, orders, and reviews.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</a:pPr>
            <a:r>
              <a:rPr lang="en-US"/>
              <a:t>The key challenge is to organize this data efficiently to enable insights on top products, customer purchasing patterns, and inventory demand.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</a:pPr>
            <a:r>
              <a:rPr b="1" lang="en-US"/>
              <a:t>Goal:</a:t>
            </a:r>
            <a:r>
              <a:rPr lang="en-US"/>
              <a:t> Build a relational database that supports accurate analysis and data-driven decisions.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82" name="Google Shape;82;p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83" name="Google Shape;83;p2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bebe3784_0_0"/>
          <p:cNvSpPr txBox="1"/>
          <p:nvPr>
            <p:ph type="title"/>
          </p:nvPr>
        </p:nvSpPr>
        <p:spPr>
          <a:xfrm>
            <a:off x="707752" y="1021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 (ER DIAGRAM)</a:t>
            </a:r>
            <a:endParaRPr/>
          </a:p>
        </p:txBody>
      </p:sp>
      <p:pic>
        <p:nvPicPr>
          <p:cNvPr id="106" name="Google Shape;106;g3aabebe378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450" y="1178150"/>
            <a:ext cx="7231475" cy="41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3(Retreive from city,category)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494400" y="1068213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customers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City = 'North Daniel';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00" y="1950000"/>
            <a:ext cx="8620525" cy="69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494400" y="26481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products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Category = 'Fruits';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00" y="3479477"/>
            <a:ext cx="7704002" cy="1781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DDL statements –TASK 4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408752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6800475" y="1718650"/>
            <a:ext cx="1793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Roboto Mono"/>
                <a:ea typeface="Roboto Mono"/>
                <a:cs typeface="Roboto Mono"/>
                <a:sym typeface="Roboto Mono"/>
              </a:rPr>
              <a:t>CustomerID</a:t>
            </a:r>
            <a:r>
              <a:rPr lang="en-US" sz="1200"/>
              <a:t> as the primary key.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Ensure </a:t>
            </a:r>
            <a:r>
              <a:rPr lang="en-US" sz="1200"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 sz="1200"/>
              <a:t> cannot be null and must be greater than 18.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Add a unique constraint for </a:t>
            </a:r>
            <a:r>
              <a:rPr lang="en-US" sz="1200"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1200"/>
              <a:t>.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5 (DML)– INSERT 3 ROWS</a:t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50"/>
            <a:ext cx="9068824" cy="21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16947"/>
            <a:ext cx="8839199" cy="964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6 - UPDATE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</p:txBody>
      </p:sp>
      <p:pic>
        <p:nvPicPr>
          <p:cNvPr id="136" name="Google Shape;13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375" y="1277575"/>
            <a:ext cx="714375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7 &amp; 8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7) </a:t>
            </a:r>
            <a:r>
              <a:rPr lang="en-US"/>
              <a:t>DELETE FROM suppliers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City = 'Elizabethside';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rPr b="1" lang="en-US"/>
              <a:t>Row Deleted Successfully</a:t>
            </a:r>
            <a:endParaRPr b="1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8) 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ALTER TABLE Customers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ALTER COLUMN PrimeMember SET DEFAULT FALSE;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ALTER TABLE reviews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CONSTRAINT chk_rating_range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(rating &gt;= 1 AND rating &lt;= 5);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Reviews and Customers table altered with conditions</a:t>
            </a:r>
            <a:endParaRPr b="1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9 (Clauses and Aggregation)</a:t>
            </a:r>
            <a:endParaRPr/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</p:txBody>
      </p:sp>
      <p:pic>
        <p:nvPicPr>
          <p:cNvPr descr="A screenshot of a computer&#10;&#10;AI-generated content may be incorrect."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807" y="1124946"/>
            <a:ext cx="2602864" cy="3166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3009" y="1215749"/>
            <a:ext cx="2756644" cy="31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5c19bbf2_0_6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Insights from TASK 9</a:t>
            </a:r>
            <a:endParaRPr/>
          </a:p>
        </p:txBody>
      </p:sp>
      <p:sp>
        <p:nvSpPr>
          <p:cNvPr id="156" name="Google Shape;156;g3ab5c19bbf2_0_6"/>
          <p:cNvSpPr txBox="1"/>
          <p:nvPr>
            <p:ph idx="1" type="subTitle"/>
          </p:nvPr>
        </p:nvSpPr>
        <p:spPr>
          <a:xfrm>
            <a:off x="720000" y="1301225"/>
            <a:ext cx="6652200" cy="3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Order Trends 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Orders after 2024-01-01: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Recent demand is rising or falling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should adjust warehouse replenishment frequency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Average Rating 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High-rated products: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be highlighted on home page</a:t>
            </a:r>
            <a:b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ideal candidates for Amazon Fresh private-label items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10 (High Value Customers)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6026600" y="1766225"/>
            <a:ext cx="2761500" cy="25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High value Buyers spend around 70,000 to 80,000.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There could be targeted subscription options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Personalized promotion for top customers</a:t>
            </a:r>
            <a:endParaRPr/>
          </a:p>
        </p:txBody>
      </p:sp>
      <p:pic>
        <p:nvPicPr>
          <p:cNvPr id="163" name="Google Shape;16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050" y="1215750"/>
            <a:ext cx="5172851" cy="36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11 - JOINS</a:t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720000" y="399465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 the </a:t>
            </a:r>
            <a:r>
              <a:rPr lang="en-US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Orders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OrderDetails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tables to calculate total revenue per order.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customers who placed the most orders in a specific time period.</a:t>
            </a:r>
            <a:endParaRPr/>
          </a:p>
        </p:txBody>
      </p:sp>
      <p:pic>
        <p:nvPicPr>
          <p:cNvPr descr="A screenshot of a computer&#10;&#10;AI-generated content may be incorrect." id="170" name="Google Shape;170;p13"/>
          <p:cNvPicPr preferRelativeResize="0"/>
          <p:nvPr/>
        </p:nvPicPr>
        <p:blipFill rotWithShape="1">
          <a:blip r:embed="rId3">
            <a:alphaModFix/>
          </a:blip>
          <a:srcRect b="0" l="4843" r="0" t="12739"/>
          <a:stretch/>
        </p:blipFill>
        <p:spPr>
          <a:xfrm>
            <a:off x="4795425" y="1017725"/>
            <a:ext cx="3131674" cy="2791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171" name="Google Shape;171;p13"/>
          <p:cNvPicPr preferRelativeResize="0"/>
          <p:nvPr/>
        </p:nvPicPr>
        <p:blipFill rotWithShape="1">
          <a:blip r:embed="rId4">
            <a:alphaModFix/>
          </a:blip>
          <a:srcRect b="3493" l="2276" r="0" t="0"/>
          <a:stretch/>
        </p:blipFill>
        <p:spPr>
          <a:xfrm>
            <a:off x="798775" y="1017725"/>
            <a:ext cx="3047724" cy="27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11(Supplier with most products)</a:t>
            </a:r>
            <a:endParaRPr/>
          </a:p>
        </p:txBody>
      </p:sp>
      <p:sp>
        <p:nvSpPr>
          <p:cNvPr id="177" name="Google Shape;177;p14"/>
          <p:cNvSpPr txBox="1"/>
          <p:nvPr>
            <p:ph idx="1" type="body"/>
          </p:nvPr>
        </p:nvSpPr>
        <p:spPr>
          <a:xfrm>
            <a:off x="720000" y="1215750"/>
            <a:ext cx="52488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SupplierID,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SUM(StockQuantity) AS TotalStock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products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 BY SupplierID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BY TotalStock DESC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 1;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</p:txBody>
      </p:sp>
      <p:pic>
        <p:nvPicPr>
          <p:cNvPr id="178" name="Google Shape;1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000" y="2967051"/>
            <a:ext cx="4848225" cy="11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 txBox="1"/>
          <p:nvPr/>
        </p:nvSpPr>
        <p:spPr>
          <a:xfrm>
            <a:off x="5841225" y="1315675"/>
            <a:ext cx="3000000" cy="2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supplier is the backbone of inventory.</a:t>
            </a:r>
            <a:br>
              <a:rPr lang="en-US"/>
            </a:br>
            <a:r>
              <a:rPr lang="en-US"/>
              <a:t> Insight: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Must have long-term contracts with them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But need to avoid dependency on one supplier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12</a:t>
            </a:r>
            <a:endParaRPr/>
          </a:p>
        </p:txBody>
      </p:sp>
      <p:sp>
        <p:nvSpPr>
          <p:cNvPr id="185" name="Google Shape;185;p15"/>
          <p:cNvSpPr txBox="1"/>
          <p:nvPr>
            <p:ph idx="1" type="body"/>
          </p:nvPr>
        </p:nvSpPr>
        <p:spPr>
          <a:xfrm>
            <a:off x="720000" y="1215750"/>
            <a:ext cx="49617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1) Create new category table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product_categories (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CategoryID SERIAL PRIMARY KEY,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Category VARCHAR(100),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SubCategory VARCHAR(100)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Insert unique category + subcategory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INTO product_categories (Category, SubCategory)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DISTINCT Category, SubCategory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products;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Add CategoryID column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 TABLE products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COLUMN CategoryID INT;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0" y="0"/>
            <a:ext cx="933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5890600" y="1475050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Separate product categories and subcategories into a new table.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Create foreign keys to maintain relationships.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bebe3784_0_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12</a:t>
            </a:r>
            <a:endParaRPr/>
          </a:p>
        </p:txBody>
      </p:sp>
      <p:sp>
        <p:nvSpPr>
          <p:cNvPr id="193" name="Google Shape;193;g3aabebe3784_0_34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Update CategoryID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 products p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CategoryID = pc.CategoryID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product_categories pc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p.Category = pc.Category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AND p.SubCategory = pc.SubCategory;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Drop old columns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 TABLE products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 COLUMN Category,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 COLUMN SubCategory;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6) Add foreign key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 TABLE products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FOREIGN KEY (CategoryID) REFERENCES product_categories(CategoryID);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abebe3784_0_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12</a:t>
            </a:r>
            <a:endParaRPr/>
          </a:p>
        </p:txBody>
      </p:sp>
      <p:sp>
        <p:nvSpPr>
          <p:cNvPr id="199" name="Google Shape;199;g3aabebe3784_0_39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g3aabebe3784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875" y="1342300"/>
            <a:ext cx="7704001" cy="260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13</a:t>
            </a:r>
            <a:endParaRPr/>
          </a:p>
        </p:txBody>
      </p:sp>
      <p:sp>
        <p:nvSpPr>
          <p:cNvPr id="206" name="Google Shape;206;p16"/>
          <p:cNvSpPr txBox="1"/>
          <p:nvPr>
            <p:ph idx="1" type="body"/>
          </p:nvPr>
        </p:nvSpPr>
        <p:spPr>
          <a:xfrm>
            <a:off x="720000" y="1215750"/>
            <a:ext cx="57531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ProductID, TotalRevenue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(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SELECT ProductID,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SUM(Quantity * UnitPrice) AS TotalRevenue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FROM order_details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GROUP BY ProductID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) AS product_revenue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BY TotalRevenue DESC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 3;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</p:txBody>
      </p:sp>
      <p:pic>
        <p:nvPicPr>
          <p:cNvPr id="207" name="Google Shape;2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800" y="3407588"/>
            <a:ext cx="5181600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6"/>
          <p:cNvSpPr txBox="1"/>
          <p:nvPr/>
        </p:nvSpPr>
        <p:spPr>
          <a:xfrm>
            <a:off x="6337200" y="18419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products drive the majority of sales revenue.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bundles using these products to boost average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ebe3784_0_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13</a:t>
            </a:r>
            <a:endParaRPr/>
          </a:p>
        </p:txBody>
      </p:sp>
      <p:sp>
        <p:nvSpPr>
          <p:cNvPr id="214" name="Google Shape;214;g3aabebe3784_0_49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CustomerID,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customers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CustomerID NOT IN 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SELECT CustomerID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FROM orders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g3aabebe3784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323" y="1215750"/>
            <a:ext cx="4338675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aabebe3784_0_49"/>
          <p:cNvSpPr txBox="1"/>
          <p:nvPr/>
        </p:nvSpPr>
        <p:spPr>
          <a:xfrm>
            <a:off x="416625" y="32453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These users are </a:t>
            </a:r>
            <a:r>
              <a:rPr b="1" lang="en-US" sz="1100"/>
              <a:t>leads</a:t>
            </a:r>
            <a:r>
              <a:rPr lang="en-US" sz="1100"/>
              <a:t>, not customers yet.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Attract them with welcome discounts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14</a:t>
            </a:r>
            <a:endParaRPr/>
          </a:p>
        </p:txBody>
      </p:sp>
      <p:sp>
        <p:nvSpPr>
          <p:cNvPr id="222" name="Google Shape;222;p17"/>
          <p:cNvSpPr txBox="1"/>
          <p:nvPr>
            <p:ph idx="1" type="body"/>
          </p:nvPr>
        </p:nvSpPr>
        <p:spPr>
          <a:xfrm>
            <a:off x="720000" y="1215750"/>
            <a:ext cx="43497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City, COUNT(*) AS PrimeMembers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customers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PrimeMember = TRUE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 BY City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BY PrimeMembers DESC;</a:t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</a:pPr>
            <a:r>
              <a:t/>
            </a:r>
            <a:endParaRPr/>
          </a:p>
        </p:txBody>
      </p:sp>
      <p:pic>
        <p:nvPicPr>
          <p:cNvPr id="223" name="Google Shape;2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025" y="2716996"/>
            <a:ext cx="3943350" cy="178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 txBox="1"/>
          <p:nvPr/>
        </p:nvSpPr>
        <p:spPr>
          <a:xfrm>
            <a:off x="5424000" y="17263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mbria"/>
              <a:buChar char="●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Certain cities have higher Prime penetration</a:t>
            </a:r>
            <a:br>
              <a:rPr lang="en-US">
                <a:latin typeface="Cambria"/>
                <a:ea typeface="Cambria"/>
                <a:cs typeface="Cambria"/>
                <a:sym typeface="Cambria"/>
              </a:rPr>
            </a:b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mbria"/>
              <a:buChar char="●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These cities may be easier to scale grocery express delivery</a:t>
            </a:r>
            <a:br>
              <a:rPr lang="en-US">
                <a:latin typeface="Cambria"/>
                <a:ea typeface="Cambria"/>
                <a:cs typeface="Cambria"/>
                <a:sym typeface="Cambria"/>
              </a:rPr>
            </a:b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mbria"/>
              <a:buChar char="●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Cities with low prime count need marketing push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abebe3784_0_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TASK 14</a:t>
            </a:r>
            <a:endParaRPr/>
          </a:p>
        </p:txBody>
      </p:sp>
      <p:sp>
        <p:nvSpPr>
          <p:cNvPr id="230" name="Google Shape;230;g3aabebe3784_0_59"/>
          <p:cNvSpPr txBox="1"/>
          <p:nvPr>
            <p:ph idx="1" type="body"/>
          </p:nvPr>
        </p:nvSpPr>
        <p:spPr>
          <a:xfrm>
            <a:off x="720000" y="1215750"/>
            <a:ext cx="58629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pc.Category, SUM(od.Quantity) AS TotalOrdered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order_details 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JOIN products p ON od.ProductID = p.ProductID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JOIN product_categories pc ON p.CategoryID = pc.CategoryID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GROUP BY pc.Category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ORDER BY TotalOrdered DESC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 3;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g3aabebe3784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88" y="3176600"/>
            <a:ext cx="366712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aabebe3784_0_59"/>
          <p:cNvSpPr txBox="1"/>
          <p:nvPr/>
        </p:nvSpPr>
        <p:spPr>
          <a:xfrm>
            <a:off x="5980075" y="24300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Categories with the highest order volumes are in demand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Stock can be consistently maintained in these.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b5c19bbf2_0_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OVERALL INSIGHTS</a:t>
            </a:r>
            <a:endParaRPr/>
          </a:p>
        </p:txBody>
      </p:sp>
      <p:sp>
        <p:nvSpPr>
          <p:cNvPr id="238" name="Google Shape;238;g3ab5c19bbf2_0_25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Top 3 products generate the highest revenue and need priority stock.</a:t>
            </a:r>
            <a:br>
              <a:rPr lang="en-US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Prime members are clustered in specific cities with strong demand.</a:t>
            </a:r>
            <a:br>
              <a:rPr lang="en-US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Several customers have not placed any orders, showing a conversion opportunity.</a:t>
            </a:r>
            <a:br>
              <a:rPr lang="en-US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 supplier provides most of the inventory, creating a dependency risk.</a:t>
            </a:r>
            <a:br>
              <a:rPr lang="en-US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Fruits and Dairy are the most frequently ordered categories based on sales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Srimathi K</dc:creator>
</cp:coreProperties>
</file>
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Outfit"/>
      <p:regular r:id="rId33"/>
      <p:bold r:id="rId34"/>
    </p:embeddedFont>
    <p:embeddedFont>
      <p:font typeface="Outfit Medium"/>
      <p:regular r:id="rId35"/>
      <p:bold r:id="rId36"/>
    </p:embeddedFont>
    <p:embeddedFont>
      <p:font typeface="DM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dt5OpnvKIBkB1DMskhXaV95jC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Outfit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OutfitMedium-regular.fntdata"/><Relationship Id="rId12" Type="http://schemas.openxmlformats.org/officeDocument/2006/relationships/slide" Target="slides/slide8.xml"/><Relationship Id="rId34" Type="http://schemas.openxmlformats.org/officeDocument/2006/relationships/font" Target="fonts/Outfit-bold.fntdata"/><Relationship Id="rId15" Type="http://schemas.openxmlformats.org/officeDocument/2006/relationships/slide" Target="slides/slide11.xml"/><Relationship Id="rId37" Type="http://schemas.openxmlformats.org/officeDocument/2006/relationships/font" Target="fonts/DMSans-regular.fntdata"/><Relationship Id="rId14" Type="http://schemas.openxmlformats.org/officeDocument/2006/relationships/slide" Target="slides/slide10.xml"/><Relationship Id="rId36" Type="http://schemas.openxmlformats.org/officeDocument/2006/relationships/font" Target="fonts/OutfitMedium-bold.fntdata"/><Relationship Id="rId17" Type="http://schemas.openxmlformats.org/officeDocument/2006/relationships/slide" Target="slides/slide13.xml"/><Relationship Id="rId39" Type="http://schemas.openxmlformats.org/officeDocument/2006/relationships/font" Target="fonts/DMSans-italic.fntdata"/><Relationship Id="rId16" Type="http://schemas.openxmlformats.org/officeDocument/2006/relationships/slide" Target="slides/slide12.xml"/><Relationship Id="rId38" Type="http://schemas.openxmlformats.org/officeDocument/2006/relationships/font" Target="fonts/DM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0f6acf4b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30f6acf4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0f6acf4b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30f6acf4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0f6acf4b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30f6acf4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30f6acf4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30f6acf4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30f6acf4b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e30f6acf4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30f6acf4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30f6acf4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30f6acf4b_0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e30f6acf4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30f6acf4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30f6acf4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30f6acf4b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30f6acf4b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30f6acf4b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30f6acf4b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30f6acf4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30f6acf4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30f6acf4b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30f6acf4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30f6acf4b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30f6acf4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30f6acf4b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30f6acf4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30f6acf4b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30f6acf4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30f6acf4b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30f6acf4b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30f6acf4b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30f6acf4b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30f6acf4b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30f6acf4b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30f6acf4b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e30f6acf4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5701ff6f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5701ff6f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5701ff6f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5701ff6f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5701ff6f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5701ff6f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5701ff6f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5701ff6f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5701ff6f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5701ff6f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5701ff6f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5701ff6f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5701ff6f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5701ff6f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9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1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6" name="Google Shape;16;p21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1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1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1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1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3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29" name="Google Shape;29;p23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3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3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4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9" name="Google Shape;39;p24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40" name="Google Shape;40;p24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4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4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4705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4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4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4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0784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4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17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" name="Google Shape;47;p24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i="0" sz="35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b="0" i="0" sz="35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40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Relationship Id="rId7" Type="http://schemas.openxmlformats.org/officeDocument/2006/relationships/image" Target="../media/image19.png"/><Relationship Id="rId8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55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Relationship Id="rId4" Type="http://schemas.openxmlformats.org/officeDocument/2006/relationships/image" Target="../media/image36.png"/><Relationship Id="rId5" Type="http://schemas.openxmlformats.org/officeDocument/2006/relationships/image" Target="../media/image42.png"/><Relationship Id="rId6" Type="http://schemas.openxmlformats.org/officeDocument/2006/relationships/image" Target="../media/image29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image" Target="../media/image62.png"/><Relationship Id="rId7" Type="http://schemas.openxmlformats.org/officeDocument/2006/relationships/image" Target="../media/image51.png"/><Relationship Id="rId8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60.png"/><Relationship Id="rId6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713225" y="1156000"/>
            <a:ext cx="56184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000"/>
              <a:t>Final Project - </a:t>
            </a:r>
            <a:r>
              <a:rPr lang="en-US" sz="3000"/>
              <a:t>YouTube Trending Videos Analytics &amp; Performance Forecasting System </a:t>
            </a:r>
            <a:endParaRPr sz="3000"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BY: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SRIMATHI K</a:t>
            </a:r>
            <a:endParaRPr/>
          </a:p>
        </p:txBody>
      </p:sp>
      <p:cxnSp>
        <p:nvCxnSpPr>
          <p:cNvPr id="54" name="Google Shape;54;p1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" name="Google Shape;55;p1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56" name="Google Shape;56;p1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185504" y="1318014"/>
            <a:ext cx="5443898" cy="2897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 objective of this project is to analyze YouTube trending video data to identify: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Factors that influence video performance,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Engagement patterns,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/>
              <a:t>Trending behavior across different categories and countries.</a:t>
            </a:r>
            <a:endParaRPr/>
          </a:p>
        </p:txBody>
      </p:sp>
      <p:grpSp>
        <p:nvGrpSpPr>
          <p:cNvPr id="82" name="Google Shape;82;p2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83" name="Google Shape;83;p2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05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4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0f6acf4b_0_3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Dataset Overview</a:t>
            </a:r>
            <a:br>
              <a:rPr lang="en-US"/>
            </a:br>
            <a:endParaRPr/>
          </a:p>
        </p:txBody>
      </p:sp>
      <p:sp>
        <p:nvSpPr>
          <p:cNvPr id="106" name="Google Shape;106;g3e30f6acf4b_0_3"/>
          <p:cNvSpPr txBox="1"/>
          <p:nvPr>
            <p:ph idx="1" type="subTitle"/>
          </p:nvPr>
        </p:nvSpPr>
        <p:spPr>
          <a:xfrm>
            <a:off x="185500" y="1318025"/>
            <a:ext cx="6016800" cy="28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Dataset Source: </a:t>
            </a:r>
            <a:r>
              <a:rPr lang="en-US">
                <a:solidFill>
                  <a:srgbClr val="000000"/>
                </a:solidFill>
              </a:rPr>
              <a:t>Kaggle — YouTube Trending Video Statistics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Dataset Includes,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/>
              <a:t>Video details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/>
              <a:t>Views, likes, comments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/>
              <a:t>Publish date and trending date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/>
              <a:t>Multiple country datasets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/>
              <a:t>Category mapping JSON files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07" name="Google Shape;107;g3e30f6acf4b_0_3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108" name="Google Shape;108;g3e30f6acf4b_0_3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e30f6acf4b_0_3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e30f6acf4b_0_3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e30f6acf4b_0_3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e30f6acf4b_0_3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e30f6acf4b_0_3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e30f6acf4b_0_3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e30f6acf4b_0_3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e30f6acf4b_0_3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e30f6acf4b_0_3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e30f6acf4b_0_3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e30f6acf4b_0_3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e30f6acf4b_0_3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e30f6acf4b_0_3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e30f6acf4b_0_3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e30f6acf4b_0_3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e30f6acf4b_0_3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e30f6acf4b_0_3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6" name="Google Shape;126;g3e30f6acf4b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50" y="3657875"/>
            <a:ext cx="7201549" cy="10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0f6acf4b_0_29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Data Cleaning</a:t>
            </a:r>
            <a:br>
              <a:rPr lang="en-US"/>
            </a:br>
            <a:endParaRPr/>
          </a:p>
        </p:txBody>
      </p:sp>
      <p:sp>
        <p:nvSpPr>
          <p:cNvPr id="132" name="Google Shape;132;g3e30f6acf4b_0_29"/>
          <p:cNvSpPr txBox="1"/>
          <p:nvPr>
            <p:ph idx="1" type="subTitle"/>
          </p:nvPr>
        </p:nvSpPr>
        <p:spPr>
          <a:xfrm>
            <a:off x="185500" y="1318026"/>
            <a:ext cx="5443800" cy="3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</a:rPr>
              <a:t>Tasks Performed in Excel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Combined datasets from multiple countries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Checked and handled missing values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Standardized date and time formats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Cleaned and formatted text fields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Prepared structured data for SQL import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</a:rPr>
              <a:t>Additional Columns Created</a:t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Engagement Rate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Title Length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Tag Count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●"/>
            </a:pPr>
            <a:r>
              <a:rPr lang="en-US" sz="1300">
                <a:solidFill>
                  <a:srgbClr val="000000"/>
                </a:solidFill>
              </a:rPr>
              <a:t>Publish Hour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grpSp>
        <p:nvGrpSpPr>
          <p:cNvPr id="133" name="Google Shape;133;g3e30f6acf4b_0_29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134" name="Google Shape;134;g3e30f6acf4b_0_29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e30f6acf4b_0_29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e30f6acf4b_0_29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e30f6acf4b_0_29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e30f6acf4b_0_29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e30f6acf4b_0_29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e30f6acf4b_0_29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e30f6acf4b_0_29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e30f6acf4b_0_29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e30f6acf4b_0_29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e30f6acf4b_0_29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e30f6acf4b_0_29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e30f6acf4b_0_29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e30f6acf4b_0_29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e30f6acf4b_0_29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e30f6acf4b_0_29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e30f6acf4b_0_29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e30f6acf4b_0_29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30f6acf4b_0_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Category Mapping Integration </a:t>
            </a:r>
            <a:br>
              <a:rPr lang="en-US"/>
            </a:br>
            <a:endParaRPr/>
          </a:p>
        </p:txBody>
      </p:sp>
      <p:sp>
        <p:nvSpPr>
          <p:cNvPr id="157" name="Google Shape;157;g3e30f6acf4b_0_53"/>
          <p:cNvSpPr txBox="1"/>
          <p:nvPr>
            <p:ph idx="1" type="body"/>
          </p:nvPr>
        </p:nvSpPr>
        <p:spPr>
          <a:xfrm>
            <a:off x="4409100" y="1465425"/>
            <a:ext cx="40149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Extracted category details from JSON files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Converted JSON data into tabular format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Merged category names with the main dataset using category_id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Used SQL JOIN Query </a:t>
            </a:r>
            <a:r>
              <a:rPr lang="en-US"/>
              <a:t>in order</a:t>
            </a:r>
            <a:r>
              <a:rPr lang="en-US"/>
              <a:t> to Map the category name and id to the rest of the cleaned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58" name="Google Shape;158;g3e30f6acf4b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25" y="1324275"/>
            <a:ext cx="3743325" cy="335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30f6acf4b_0_115"/>
          <p:cNvSpPr txBox="1"/>
          <p:nvPr>
            <p:ph type="title"/>
          </p:nvPr>
        </p:nvSpPr>
        <p:spPr>
          <a:xfrm>
            <a:off x="720000" y="295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I) DATASET OVERVIEW ANALYSIS</a:t>
            </a:r>
            <a:endParaRPr/>
          </a:p>
        </p:txBody>
      </p:sp>
      <p:pic>
        <p:nvPicPr>
          <p:cNvPr id="164" name="Google Shape;164;g3e30f6acf4b_0_115"/>
          <p:cNvPicPr preferRelativeResize="0"/>
          <p:nvPr/>
        </p:nvPicPr>
        <p:blipFill rotWithShape="1">
          <a:blip r:embed="rId3">
            <a:alphaModFix/>
          </a:blip>
          <a:srcRect b="72970" l="8481" r="55598" t="0"/>
          <a:stretch/>
        </p:blipFill>
        <p:spPr>
          <a:xfrm>
            <a:off x="782925" y="1567325"/>
            <a:ext cx="2717201" cy="50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e30f6acf4b_0_115"/>
          <p:cNvPicPr preferRelativeResize="0"/>
          <p:nvPr/>
        </p:nvPicPr>
        <p:blipFill rotWithShape="1">
          <a:blip r:embed="rId4">
            <a:alphaModFix/>
          </a:blip>
          <a:srcRect b="71412" l="18706" r="0" t="0"/>
          <a:stretch/>
        </p:blipFill>
        <p:spPr>
          <a:xfrm>
            <a:off x="782925" y="2336213"/>
            <a:ext cx="3453525" cy="4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e30f6acf4b_0_115"/>
          <p:cNvPicPr preferRelativeResize="0"/>
          <p:nvPr/>
        </p:nvPicPr>
        <p:blipFill rotWithShape="1">
          <a:blip r:embed="rId4">
            <a:alphaModFix/>
          </a:blip>
          <a:srcRect b="0" l="0" r="51452" t="65245"/>
          <a:stretch/>
        </p:blipFill>
        <p:spPr>
          <a:xfrm>
            <a:off x="4509275" y="2284337"/>
            <a:ext cx="1280867" cy="3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e30f6acf4b_0_115"/>
          <p:cNvPicPr preferRelativeResize="0"/>
          <p:nvPr/>
        </p:nvPicPr>
        <p:blipFill rotWithShape="1">
          <a:blip r:embed="rId3">
            <a:alphaModFix/>
          </a:blip>
          <a:srcRect b="0" l="0" r="66878" t="62460"/>
          <a:stretch/>
        </p:blipFill>
        <p:spPr>
          <a:xfrm>
            <a:off x="4509275" y="1366100"/>
            <a:ext cx="1909828" cy="4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e30f6acf4b_0_115"/>
          <p:cNvPicPr preferRelativeResize="0"/>
          <p:nvPr/>
        </p:nvPicPr>
        <p:blipFill rotWithShape="1">
          <a:blip r:embed="rId5">
            <a:alphaModFix/>
          </a:blip>
          <a:srcRect b="74884" l="17191" r="0" t="0"/>
          <a:stretch/>
        </p:blipFill>
        <p:spPr>
          <a:xfrm>
            <a:off x="782925" y="3068512"/>
            <a:ext cx="3453525" cy="4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e30f6acf4b_0_115"/>
          <p:cNvPicPr preferRelativeResize="0"/>
          <p:nvPr/>
        </p:nvPicPr>
        <p:blipFill rotWithShape="1">
          <a:blip r:embed="rId5">
            <a:alphaModFix/>
          </a:blip>
          <a:srcRect b="2786" l="1555" r="64502" t="65452"/>
          <a:stretch/>
        </p:blipFill>
        <p:spPr>
          <a:xfrm>
            <a:off x="4509275" y="2968637"/>
            <a:ext cx="1280875" cy="4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e30f6acf4b_0_115"/>
          <p:cNvPicPr preferRelativeResize="0"/>
          <p:nvPr/>
        </p:nvPicPr>
        <p:blipFill rotWithShape="1">
          <a:blip r:embed="rId6">
            <a:alphaModFix/>
          </a:blip>
          <a:srcRect b="68187" l="13327" r="28221" t="0"/>
          <a:stretch/>
        </p:blipFill>
        <p:spPr>
          <a:xfrm>
            <a:off x="863250" y="3925825"/>
            <a:ext cx="3146141" cy="4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e30f6acf4b_0_115"/>
          <p:cNvPicPr preferRelativeResize="0"/>
          <p:nvPr/>
        </p:nvPicPr>
        <p:blipFill rotWithShape="1">
          <a:blip r:embed="rId6">
            <a:alphaModFix/>
          </a:blip>
          <a:srcRect b="3483" l="0" r="74696" t="64704"/>
          <a:stretch/>
        </p:blipFill>
        <p:spPr>
          <a:xfrm>
            <a:off x="4509275" y="3862175"/>
            <a:ext cx="1280875" cy="443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30f6acf4b_0_115"/>
          <p:cNvPicPr preferRelativeResize="0"/>
          <p:nvPr/>
        </p:nvPicPr>
        <p:blipFill rotWithShape="1">
          <a:blip r:embed="rId7">
            <a:alphaModFix/>
          </a:blip>
          <a:srcRect b="72546" l="20109" r="0" t="0"/>
          <a:stretch/>
        </p:blipFill>
        <p:spPr>
          <a:xfrm>
            <a:off x="6660438" y="1683150"/>
            <a:ext cx="1790275" cy="10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30f6acf4b_0_115"/>
          <p:cNvPicPr preferRelativeResize="0"/>
          <p:nvPr/>
        </p:nvPicPr>
        <p:blipFill rotWithShape="1">
          <a:blip r:embed="rId7">
            <a:alphaModFix/>
          </a:blip>
          <a:srcRect b="6099" l="6100" r="8466" t="42690"/>
          <a:stretch/>
        </p:blipFill>
        <p:spPr>
          <a:xfrm>
            <a:off x="6693125" y="2872450"/>
            <a:ext cx="1724900" cy="17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30f6acf4b_0_115"/>
          <p:cNvSpPr txBox="1"/>
          <p:nvPr/>
        </p:nvSpPr>
        <p:spPr>
          <a:xfrm>
            <a:off x="863250" y="11980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Q1) </a:t>
            </a:r>
            <a:r>
              <a:rPr lang="en-US" sz="1200"/>
              <a:t>Total Dataset Size </a:t>
            </a:r>
            <a:endParaRPr sz="1200"/>
          </a:p>
        </p:txBody>
      </p:sp>
      <p:sp>
        <p:nvSpPr>
          <p:cNvPr id="175" name="Google Shape;175;g3e30f6acf4b_0_115"/>
          <p:cNvSpPr txBox="1"/>
          <p:nvPr/>
        </p:nvSpPr>
        <p:spPr>
          <a:xfrm>
            <a:off x="863250" y="1962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Q2) </a:t>
            </a:r>
            <a:r>
              <a:rPr lang="en-US" sz="1200"/>
              <a:t>Total Countries Covered </a:t>
            </a:r>
            <a:endParaRPr sz="1200"/>
          </a:p>
        </p:txBody>
      </p:sp>
      <p:sp>
        <p:nvSpPr>
          <p:cNvPr id="176" name="Google Shape;176;g3e30f6acf4b_0_115"/>
          <p:cNvSpPr txBox="1"/>
          <p:nvPr/>
        </p:nvSpPr>
        <p:spPr>
          <a:xfrm>
            <a:off x="863250" y="27279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Q3) </a:t>
            </a:r>
            <a:r>
              <a:rPr lang="en-US" sz="1200"/>
              <a:t>Total Video Categories </a:t>
            </a:r>
            <a:endParaRPr sz="1200"/>
          </a:p>
        </p:txBody>
      </p:sp>
      <p:sp>
        <p:nvSpPr>
          <p:cNvPr id="177" name="Google Shape;177;g3e30f6acf4b_0_115"/>
          <p:cNvSpPr txBox="1"/>
          <p:nvPr/>
        </p:nvSpPr>
        <p:spPr>
          <a:xfrm>
            <a:off x="936325" y="34928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Q4) </a:t>
            </a:r>
            <a:r>
              <a:rPr lang="en-US" sz="1200"/>
              <a:t>Total Unique Channels </a:t>
            </a:r>
            <a:endParaRPr sz="1200"/>
          </a:p>
        </p:txBody>
      </p:sp>
      <p:sp>
        <p:nvSpPr>
          <p:cNvPr id="178" name="Google Shape;178;g3e30f6acf4b_0_115"/>
          <p:cNvSpPr txBox="1"/>
          <p:nvPr/>
        </p:nvSpPr>
        <p:spPr>
          <a:xfrm>
            <a:off x="6474500" y="1150350"/>
            <a:ext cx="204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Q5) </a:t>
            </a:r>
            <a:r>
              <a:rPr lang="en-US" sz="1200"/>
              <a:t>Country-wise Dataset Distribution 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30f6acf4b_0_77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Dataset Overview</a:t>
            </a:r>
            <a:br>
              <a:rPr lang="en-US"/>
            </a:br>
            <a:endParaRPr/>
          </a:p>
        </p:txBody>
      </p:sp>
      <p:sp>
        <p:nvSpPr>
          <p:cNvPr id="184" name="Google Shape;184;g3e30f6acf4b_0_77"/>
          <p:cNvSpPr txBox="1"/>
          <p:nvPr>
            <p:ph idx="1" type="subTitle"/>
          </p:nvPr>
        </p:nvSpPr>
        <p:spPr>
          <a:xfrm>
            <a:off x="185504" y="1318014"/>
            <a:ext cx="5443800" cy="28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Key Findings from Queries - 1 to 5: 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>
                <a:solidFill>
                  <a:srgbClr val="000000"/>
                </a:solidFill>
              </a:rPr>
              <a:t>Dataset contains 353K+ trending video records.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>
                <a:solidFill>
                  <a:srgbClr val="000000"/>
                </a:solidFill>
              </a:rPr>
              <a:t>Data collected from 9 countries.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>
                <a:solidFill>
                  <a:srgbClr val="000000"/>
                </a:solidFill>
              </a:rPr>
              <a:t>Over 29K unique YouTube channels identified.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>
                <a:solidFill>
                  <a:srgbClr val="000000"/>
                </a:solidFill>
              </a:rPr>
              <a:t>Dataset covers 18 video categories.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>
                <a:solidFill>
                  <a:srgbClr val="000000"/>
                </a:solidFill>
              </a:rPr>
              <a:t>US has the highest trending video count.</a:t>
            </a:r>
            <a:endParaRPr b="1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"/>
              <a:buChar char="●"/>
            </a:pPr>
            <a:r>
              <a:rPr lang="en-US">
                <a:solidFill>
                  <a:srgbClr val="000000"/>
                </a:solidFill>
              </a:rPr>
              <a:t>The dataset is large and diverse enough for trend and engagement analysis.</a:t>
            </a:r>
            <a:endParaRPr/>
          </a:p>
        </p:txBody>
      </p:sp>
      <p:grpSp>
        <p:nvGrpSpPr>
          <p:cNvPr id="185" name="Google Shape;185;g3e30f6acf4b_0_77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186" name="Google Shape;186;g3e30f6acf4b_0_77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e30f6acf4b_0_77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e30f6acf4b_0_77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e30f6acf4b_0_77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e30f6acf4b_0_77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e30f6acf4b_0_77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e30f6acf4b_0_77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e30f6acf4b_0_77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e30f6acf4b_0_77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e30f6acf4b_0_77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e30f6acf4b_0_77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3e30f6acf4b_0_77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e30f6acf4b_0_77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e30f6acf4b_0_77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e30f6acf4b_0_77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e30f6acf4b_0_77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e30f6acf4b_0_77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e30f6acf4b_0_77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30f6acf4b_0_151"/>
          <p:cNvSpPr txBox="1"/>
          <p:nvPr>
            <p:ph type="title"/>
          </p:nvPr>
        </p:nvSpPr>
        <p:spPr>
          <a:xfrm>
            <a:off x="720000" y="375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II) CONTENT PERFORMANCE ANALYSIS </a:t>
            </a:r>
            <a:endParaRPr sz="3000"/>
          </a:p>
        </p:txBody>
      </p:sp>
      <p:pic>
        <p:nvPicPr>
          <p:cNvPr id="209" name="Google Shape;209;g3e30f6acf4b_0_151"/>
          <p:cNvPicPr preferRelativeResize="0"/>
          <p:nvPr/>
        </p:nvPicPr>
        <p:blipFill rotWithShape="1">
          <a:blip r:embed="rId3">
            <a:alphaModFix/>
          </a:blip>
          <a:srcRect b="66835" l="9870" r="46896" t="0"/>
          <a:stretch/>
        </p:blipFill>
        <p:spPr>
          <a:xfrm>
            <a:off x="514625" y="1315750"/>
            <a:ext cx="2908575" cy="16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e30f6acf4b_0_151"/>
          <p:cNvPicPr preferRelativeResize="0"/>
          <p:nvPr/>
        </p:nvPicPr>
        <p:blipFill rotWithShape="1">
          <a:blip r:embed="rId3">
            <a:alphaModFix/>
          </a:blip>
          <a:srcRect b="0" l="0" r="0" t="42766"/>
          <a:stretch/>
        </p:blipFill>
        <p:spPr>
          <a:xfrm>
            <a:off x="615725" y="3188350"/>
            <a:ext cx="2706374" cy="154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e30f6acf4b_0_151"/>
          <p:cNvPicPr preferRelativeResize="0"/>
          <p:nvPr/>
        </p:nvPicPr>
        <p:blipFill rotWithShape="1">
          <a:blip r:embed="rId4">
            <a:alphaModFix/>
          </a:blip>
          <a:srcRect b="72360" l="25540" r="0" t="0"/>
          <a:stretch/>
        </p:blipFill>
        <p:spPr>
          <a:xfrm>
            <a:off x="3811650" y="1201588"/>
            <a:ext cx="2191375" cy="135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e30f6acf4b_0_151"/>
          <p:cNvPicPr preferRelativeResize="0"/>
          <p:nvPr/>
        </p:nvPicPr>
        <p:blipFill rotWithShape="1">
          <a:blip r:embed="rId4">
            <a:alphaModFix/>
          </a:blip>
          <a:srcRect b="0" l="0" r="0" t="46461"/>
          <a:stretch/>
        </p:blipFill>
        <p:spPr>
          <a:xfrm>
            <a:off x="3743175" y="2885300"/>
            <a:ext cx="2328325" cy="192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e30f6acf4b_0_151"/>
          <p:cNvPicPr preferRelativeResize="0"/>
          <p:nvPr/>
        </p:nvPicPr>
        <p:blipFill rotWithShape="1">
          <a:blip r:embed="rId5">
            <a:alphaModFix/>
          </a:blip>
          <a:srcRect b="72353" l="15052" r="28806" t="0"/>
          <a:stretch/>
        </p:blipFill>
        <p:spPr>
          <a:xfrm>
            <a:off x="6391475" y="1196225"/>
            <a:ext cx="2111675" cy="139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e30f6acf4b_0_151"/>
          <p:cNvPicPr preferRelativeResize="0"/>
          <p:nvPr/>
        </p:nvPicPr>
        <p:blipFill rotWithShape="1">
          <a:blip r:embed="rId5">
            <a:alphaModFix/>
          </a:blip>
          <a:srcRect b="0" l="0" r="32922" t="44093"/>
          <a:stretch/>
        </p:blipFill>
        <p:spPr>
          <a:xfrm>
            <a:off x="6391475" y="2914425"/>
            <a:ext cx="2032524" cy="192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30f6acf4b_0_190"/>
          <p:cNvSpPr txBox="1"/>
          <p:nvPr>
            <p:ph type="title"/>
          </p:nvPr>
        </p:nvSpPr>
        <p:spPr>
          <a:xfrm>
            <a:off x="114299" y="365055"/>
            <a:ext cx="61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Content Overview</a:t>
            </a:r>
            <a:br>
              <a:rPr lang="en-US"/>
            </a:br>
            <a:endParaRPr/>
          </a:p>
        </p:txBody>
      </p:sp>
      <p:sp>
        <p:nvSpPr>
          <p:cNvPr id="220" name="Google Shape;220;g3e30f6acf4b_0_190"/>
          <p:cNvSpPr txBox="1"/>
          <p:nvPr>
            <p:ph idx="1" type="subTitle"/>
          </p:nvPr>
        </p:nvSpPr>
        <p:spPr>
          <a:xfrm>
            <a:off x="196600" y="1096075"/>
            <a:ext cx="6382200" cy="28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</a:rPr>
              <a:t>Query 6 – Top Viewed Videos: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Music videos dominated trending views.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Viral songs maintained long-lasting popularity.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Entertainment content attracted massive reach.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</a:rPr>
              <a:t>Query 7 – Top Categories by Total Views: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Music led total views by a large margin.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Entertainment ranked second.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Educational content had lower reach.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</a:rPr>
              <a:t>Query 8 – Average Views by Category: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Music had the highest average views.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Movies and Film &amp; Animation performed strongly.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●"/>
            </a:pPr>
            <a:r>
              <a:rPr lang="en-US" sz="1200">
                <a:solidFill>
                  <a:srgbClr val="000000"/>
                </a:solidFill>
              </a:rPr>
              <a:t>Tech content showed solid audience interest.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221" name="Google Shape;221;g3e30f6acf4b_0_190"/>
          <p:cNvGrpSpPr/>
          <p:nvPr/>
        </p:nvGrpSpPr>
        <p:grpSpPr>
          <a:xfrm>
            <a:off x="5430930" y="-445784"/>
            <a:ext cx="4086563" cy="6064817"/>
            <a:chOff x="5430930" y="-445784"/>
            <a:chExt cx="4086563" cy="6064817"/>
          </a:xfrm>
        </p:grpSpPr>
        <p:sp>
          <p:nvSpPr>
            <p:cNvPr id="222" name="Google Shape;222;g3e30f6acf4b_0_190"/>
            <p:cNvSpPr/>
            <p:nvPr/>
          </p:nvSpPr>
          <p:spPr>
            <a:xfrm>
              <a:off x="7368520" y="9887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e30f6acf4b_0_190"/>
            <p:cNvSpPr/>
            <p:nvPr/>
          </p:nvSpPr>
          <p:spPr>
            <a:xfrm flipH="1" rot="10800000">
              <a:off x="6036409" y="19621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e30f6acf4b_0_190"/>
            <p:cNvSpPr/>
            <p:nvPr/>
          </p:nvSpPr>
          <p:spPr>
            <a:xfrm>
              <a:off x="7309474" y="21661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e30f6acf4b_0_190"/>
            <p:cNvSpPr/>
            <p:nvPr/>
          </p:nvSpPr>
          <p:spPr>
            <a:xfrm>
              <a:off x="6269702" y="-4457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e30f6acf4b_0_190"/>
            <p:cNvSpPr/>
            <p:nvPr/>
          </p:nvSpPr>
          <p:spPr>
            <a:xfrm>
              <a:off x="5830483" y="42158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e30f6acf4b_0_190"/>
            <p:cNvSpPr/>
            <p:nvPr/>
          </p:nvSpPr>
          <p:spPr>
            <a:xfrm>
              <a:off x="6269683" y="13325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e30f6acf4b_0_190"/>
            <p:cNvSpPr/>
            <p:nvPr/>
          </p:nvSpPr>
          <p:spPr>
            <a:xfrm>
              <a:off x="8430764" y="234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e30f6acf4b_0_190"/>
            <p:cNvSpPr/>
            <p:nvPr/>
          </p:nvSpPr>
          <p:spPr>
            <a:xfrm>
              <a:off x="7309467" y="26182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e30f6acf4b_0_190"/>
            <p:cNvSpPr/>
            <p:nvPr/>
          </p:nvSpPr>
          <p:spPr>
            <a:xfrm>
              <a:off x="7962441" y="131801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e30f6acf4b_0_190"/>
            <p:cNvSpPr/>
            <p:nvPr/>
          </p:nvSpPr>
          <p:spPr>
            <a:xfrm flipH="1" rot="10800000">
              <a:off x="6351880" y="311086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e30f6acf4b_0_190"/>
            <p:cNvSpPr/>
            <p:nvPr/>
          </p:nvSpPr>
          <p:spPr>
            <a:xfrm flipH="1" rot="10800000">
              <a:off x="6790284" y="354856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471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e30f6acf4b_0_190"/>
            <p:cNvSpPr/>
            <p:nvPr/>
          </p:nvSpPr>
          <p:spPr>
            <a:xfrm flipH="1" rot="10800000">
              <a:off x="5430930" y="465091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e30f6acf4b_0_190"/>
            <p:cNvSpPr/>
            <p:nvPr/>
          </p:nvSpPr>
          <p:spPr>
            <a:xfrm>
              <a:off x="8678783" y="266882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e30f6acf4b_0_190"/>
            <p:cNvSpPr/>
            <p:nvPr/>
          </p:nvSpPr>
          <p:spPr>
            <a:xfrm>
              <a:off x="8430773" y="22359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e30f6acf4b_0_190"/>
            <p:cNvSpPr/>
            <p:nvPr/>
          </p:nvSpPr>
          <p:spPr>
            <a:xfrm flipH="1" rot="10800000">
              <a:off x="8119787" y="363695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e30f6acf4b_0_190"/>
            <p:cNvSpPr/>
            <p:nvPr/>
          </p:nvSpPr>
          <p:spPr>
            <a:xfrm flipH="1" rot="10800000">
              <a:off x="7697255" y="411247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e30f6acf4b_0_190"/>
            <p:cNvSpPr/>
            <p:nvPr/>
          </p:nvSpPr>
          <p:spPr>
            <a:xfrm>
              <a:off x="6628072" y="11249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2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e30f6acf4b_0_190"/>
            <p:cNvSpPr/>
            <p:nvPr/>
          </p:nvSpPr>
          <p:spPr>
            <a:xfrm flipH="1" rot="10800000">
              <a:off x="7825159" y="-2514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07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e30f6acf4b_0_176"/>
          <p:cNvPicPr preferRelativeResize="0"/>
          <p:nvPr/>
        </p:nvPicPr>
        <p:blipFill rotWithShape="1">
          <a:blip r:embed="rId3">
            <a:alphaModFix/>
          </a:blip>
          <a:srcRect b="6628" l="5454" r="33873" t="43199"/>
          <a:stretch/>
        </p:blipFill>
        <p:spPr>
          <a:xfrm>
            <a:off x="685300" y="2671600"/>
            <a:ext cx="2589799" cy="199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e30f6acf4b_0_176"/>
          <p:cNvPicPr preferRelativeResize="0"/>
          <p:nvPr/>
        </p:nvPicPr>
        <p:blipFill rotWithShape="1">
          <a:blip r:embed="rId3">
            <a:alphaModFix/>
          </a:blip>
          <a:srcRect b="67588" l="14630" r="34500" t="0"/>
          <a:stretch/>
        </p:blipFill>
        <p:spPr>
          <a:xfrm>
            <a:off x="685300" y="1111025"/>
            <a:ext cx="2171450" cy="14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e30f6acf4b_0_176"/>
          <p:cNvPicPr preferRelativeResize="0"/>
          <p:nvPr/>
        </p:nvPicPr>
        <p:blipFill rotWithShape="1">
          <a:blip r:embed="rId4">
            <a:alphaModFix/>
          </a:blip>
          <a:srcRect b="0" l="4418" r="7569" t="47465"/>
          <a:stretch/>
        </p:blipFill>
        <p:spPr>
          <a:xfrm>
            <a:off x="2947263" y="2592425"/>
            <a:ext cx="3077875" cy="20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e30f6acf4b_0_176"/>
          <p:cNvPicPr preferRelativeResize="0"/>
          <p:nvPr/>
        </p:nvPicPr>
        <p:blipFill rotWithShape="1">
          <a:blip r:embed="rId4">
            <a:alphaModFix/>
          </a:blip>
          <a:srcRect b="61934" l="10127" r="46577" t="0"/>
          <a:stretch/>
        </p:blipFill>
        <p:spPr>
          <a:xfrm>
            <a:off x="3033075" y="1080125"/>
            <a:ext cx="2410499" cy="15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30f6acf4b_0_176"/>
          <p:cNvSpPr txBox="1"/>
          <p:nvPr/>
        </p:nvSpPr>
        <p:spPr>
          <a:xfrm>
            <a:off x="6025125" y="1111025"/>
            <a:ext cx="29520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9 – Top Performing Channels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Music channels dominated overall visibility.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Artist and VEVO channels gained billions of views.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Major entertainment brands maintained strong reach.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10 – Videos with Highest Likes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BTS and music artists received the most likes.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Fan-driven content generated high engagement.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Music videos outperformed most other categories.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g3e30f6acf4b_0_176"/>
          <p:cNvSpPr txBox="1"/>
          <p:nvPr>
            <p:ph type="title"/>
          </p:nvPr>
        </p:nvSpPr>
        <p:spPr>
          <a:xfrm>
            <a:off x="720000" y="375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CONTENT PERFORMANCE ANALYSIS 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e30f6acf4b_0_219"/>
          <p:cNvPicPr preferRelativeResize="0"/>
          <p:nvPr/>
        </p:nvPicPr>
        <p:blipFill rotWithShape="1">
          <a:blip r:embed="rId3">
            <a:alphaModFix/>
          </a:blip>
          <a:srcRect b="68533" l="27578" r="0" t="0"/>
          <a:stretch/>
        </p:blipFill>
        <p:spPr>
          <a:xfrm>
            <a:off x="4603587" y="3078875"/>
            <a:ext cx="1906162" cy="150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e30f6acf4b_0_219"/>
          <p:cNvPicPr preferRelativeResize="0"/>
          <p:nvPr/>
        </p:nvPicPr>
        <p:blipFill rotWithShape="1">
          <a:blip r:embed="rId4">
            <a:alphaModFix/>
          </a:blip>
          <a:srcRect b="64330" l="10827" r="49498" t="0"/>
          <a:stretch/>
        </p:blipFill>
        <p:spPr>
          <a:xfrm>
            <a:off x="3525" y="3436925"/>
            <a:ext cx="2004724" cy="12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e30f6acf4b_0_219"/>
          <p:cNvPicPr preferRelativeResize="0"/>
          <p:nvPr/>
        </p:nvPicPr>
        <p:blipFill rotWithShape="1">
          <a:blip r:embed="rId4">
            <a:alphaModFix/>
          </a:blip>
          <a:srcRect b="0" l="3985" r="0" t="54012"/>
          <a:stretch/>
        </p:blipFill>
        <p:spPr>
          <a:xfrm>
            <a:off x="2075650" y="3474375"/>
            <a:ext cx="2194550" cy="11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e30f6acf4b_0_219"/>
          <p:cNvPicPr preferRelativeResize="0"/>
          <p:nvPr/>
        </p:nvPicPr>
        <p:blipFill rotWithShape="1">
          <a:blip r:embed="rId3">
            <a:alphaModFix/>
          </a:blip>
          <a:srcRect b="-1305" l="10858" r="0" t="55207"/>
          <a:stretch/>
        </p:blipFill>
        <p:spPr>
          <a:xfrm>
            <a:off x="6951175" y="3125725"/>
            <a:ext cx="1906175" cy="13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e30f6acf4b_0_219"/>
          <p:cNvPicPr preferRelativeResize="0"/>
          <p:nvPr/>
        </p:nvPicPr>
        <p:blipFill rotWithShape="1">
          <a:blip r:embed="rId5">
            <a:alphaModFix/>
          </a:blip>
          <a:srcRect b="44661" l="16226" r="25573" t="-1095"/>
          <a:stretch/>
        </p:blipFill>
        <p:spPr>
          <a:xfrm>
            <a:off x="4603575" y="907775"/>
            <a:ext cx="2194550" cy="17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e30f6acf4b_0_219"/>
          <p:cNvPicPr preferRelativeResize="0"/>
          <p:nvPr/>
        </p:nvPicPr>
        <p:blipFill rotWithShape="1">
          <a:blip r:embed="rId5">
            <a:alphaModFix/>
          </a:blip>
          <a:srcRect b="4409" l="4354" r="41221" t="67773"/>
          <a:stretch/>
        </p:blipFill>
        <p:spPr>
          <a:xfrm>
            <a:off x="6972300" y="907775"/>
            <a:ext cx="2052125" cy="9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e30f6acf4b_0_219"/>
          <p:cNvPicPr preferRelativeResize="0"/>
          <p:nvPr/>
        </p:nvPicPr>
        <p:blipFill rotWithShape="1">
          <a:blip r:embed="rId6">
            <a:alphaModFix/>
          </a:blip>
          <a:srcRect b="66513" l="9965" r="34646" t="0"/>
          <a:stretch/>
        </p:blipFill>
        <p:spPr>
          <a:xfrm>
            <a:off x="3525" y="871563"/>
            <a:ext cx="1783100" cy="120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e30f6acf4b_0_219"/>
          <p:cNvPicPr preferRelativeResize="0"/>
          <p:nvPr/>
        </p:nvPicPr>
        <p:blipFill rotWithShape="1">
          <a:blip r:embed="rId6">
            <a:alphaModFix/>
          </a:blip>
          <a:srcRect b="0" l="3363" r="0" t="56165"/>
          <a:stretch/>
        </p:blipFill>
        <p:spPr>
          <a:xfrm>
            <a:off x="2049250" y="907775"/>
            <a:ext cx="2291701" cy="11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e30f6acf4b_0_2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5" y="2183950"/>
            <a:ext cx="1855825" cy="11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e30f6acf4b_0_2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75650" y="2160600"/>
            <a:ext cx="2237850" cy="12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e30f6acf4b_0_219"/>
          <p:cNvSpPr txBox="1"/>
          <p:nvPr>
            <p:ph type="title"/>
          </p:nvPr>
        </p:nvSpPr>
        <p:spPr>
          <a:xfrm>
            <a:off x="473100" y="1906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III) </a:t>
            </a:r>
            <a:r>
              <a:rPr lang="en-US" sz="3000"/>
              <a:t>ENGAGEMENT ANALYSIS 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30f6acf4b_0_239"/>
          <p:cNvSpPr txBox="1"/>
          <p:nvPr>
            <p:ph type="title"/>
          </p:nvPr>
        </p:nvSpPr>
        <p:spPr>
          <a:xfrm>
            <a:off x="720000" y="375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Engagement Overview</a:t>
            </a:r>
            <a:endParaRPr sz="3000"/>
          </a:p>
        </p:txBody>
      </p:sp>
      <p:sp>
        <p:nvSpPr>
          <p:cNvPr id="270" name="Google Shape;270;g3e30f6acf4b_0_239"/>
          <p:cNvSpPr txBox="1"/>
          <p:nvPr/>
        </p:nvSpPr>
        <p:spPr>
          <a:xfrm>
            <a:off x="660300" y="1231775"/>
            <a:ext cx="5252700" cy="28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Query 11 – Top Videos by Engagement Rate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Tech and regional videos showed very high engagement.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Strong audience loyalty drove interactions.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Query 12 – Average Engagement Rate by Category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Howto &amp; Style had the highest engagement.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Gaming and Education performed strongly.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Query 13 – Engagement Level Distribution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Most videos had low engagement.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Only a small portion achieved high interaction.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g3e30f6acf4b_0_239"/>
          <p:cNvSpPr txBox="1"/>
          <p:nvPr/>
        </p:nvSpPr>
        <p:spPr>
          <a:xfrm>
            <a:off x="5215625" y="1221750"/>
            <a:ext cx="30000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Query 14 – Most Commented Videos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Music and viral videos received the most comments.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BTS and Logan Paul generated massive discussions.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Query 15 – Most Liked Categories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Music dominated total likes.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Entertainment and Comedy followed behind.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e30f6acf4b_0_270"/>
          <p:cNvPicPr preferRelativeResize="0"/>
          <p:nvPr/>
        </p:nvPicPr>
        <p:blipFill rotWithShape="1">
          <a:blip r:embed="rId3">
            <a:alphaModFix/>
          </a:blip>
          <a:srcRect b="0" l="6933" r="45220" t="58304"/>
          <a:stretch/>
        </p:blipFill>
        <p:spPr>
          <a:xfrm>
            <a:off x="895100" y="2890300"/>
            <a:ext cx="1726025" cy="15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e30f6acf4b_0_270"/>
          <p:cNvPicPr preferRelativeResize="0"/>
          <p:nvPr/>
        </p:nvPicPr>
        <p:blipFill rotWithShape="1">
          <a:blip r:embed="rId4">
            <a:alphaModFix/>
          </a:blip>
          <a:srcRect b="0" l="0" r="21507" t="0"/>
          <a:stretch/>
        </p:blipFill>
        <p:spPr>
          <a:xfrm>
            <a:off x="699250" y="964800"/>
            <a:ext cx="2587725" cy="15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e30f6acf4b_0_270"/>
          <p:cNvSpPr txBox="1"/>
          <p:nvPr>
            <p:ph type="title"/>
          </p:nvPr>
        </p:nvSpPr>
        <p:spPr>
          <a:xfrm>
            <a:off x="720000" y="1062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TRENDING PATTERN ANALYSIS </a:t>
            </a:r>
            <a:endParaRPr sz="3300"/>
          </a:p>
        </p:txBody>
      </p:sp>
      <p:pic>
        <p:nvPicPr>
          <p:cNvPr id="279" name="Google Shape;279;g3e30f6acf4b_0_2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325" y="852475"/>
            <a:ext cx="271462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e30f6acf4b_0_2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9925" y="2767225"/>
            <a:ext cx="1550275" cy="168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e30f6acf4b_0_2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8175" y="900100"/>
            <a:ext cx="311467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e30f6acf4b_0_2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29000" y="2890288"/>
            <a:ext cx="2587725" cy="165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30f6acf4b_0_301"/>
          <p:cNvSpPr txBox="1"/>
          <p:nvPr>
            <p:ph type="title"/>
          </p:nvPr>
        </p:nvSpPr>
        <p:spPr>
          <a:xfrm>
            <a:off x="720000" y="1062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TRENDING PATTERN ANALYSIS </a:t>
            </a:r>
            <a:endParaRPr sz="3300"/>
          </a:p>
        </p:txBody>
      </p:sp>
      <p:pic>
        <p:nvPicPr>
          <p:cNvPr id="288" name="Google Shape;288;g3e30f6acf4b_0_3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075" y="2850200"/>
            <a:ext cx="3142925" cy="151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e30f6acf4b_0_3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075" y="799700"/>
            <a:ext cx="3098117" cy="186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e30f6acf4b_0_3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3275" y="923000"/>
            <a:ext cx="35052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e30f6acf4b_0_3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9875" y="2760475"/>
            <a:ext cx="2316500" cy="16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30f6acf4b_0_316"/>
          <p:cNvSpPr txBox="1"/>
          <p:nvPr>
            <p:ph type="title"/>
          </p:nvPr>
        </p:nvSpPr>
        <p:spPr>
          <a:xfrm>
            <a:off x="720000" y="375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Trending Pattern</a:t>
            </a:r>
            <a:r>
              <a:rPr lang="en-US" sz="3000"/>
              <a:t> Overview</a:t>
            </a:r>
            <a:endParaRPr sz="3000"/>
          </a:p>
        </p:txBody>
      </p:sp>
      <p:sp>
        <p:nvSpPr>
          <p:cNvPr id="297" name="Google Shape;297;g3e30f6acf4b_0_316"/>
          <p:cNvSpPr txBox="1"/>
          <p:nvPr/>
        </p:nvSpPr>
        <p:spPr>
          <a:xfrm>
            <a:off x="660300" y="1231775"/>
            <a:ext cx="5252700" cy="30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Query 16 – Trending Videos by Day of Week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Friday had the highest trending activity.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Weekend uploads showed comparatively lower performance.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Weekday publishing was more effective overall.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Query 17 – Best Publishing Hour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Most trending videos were published during evening hours.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Peak activity was observed around 8 PM to 10 PM.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Query 18 – Average Days to Trend by Category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Nonprofits &amp; Activism and News categories trended faster.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Gaming and Entertainment required slightly more time.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g3e30f6acf4b_0_316"/>
          <p:cNvSpPr txBox="1"/>
          <p:nvPr/>
        </p:nvSpPr>
        <p:spPr>
          <a:xfrm>
            <a:off x="5215625" y="1221750"/>
            <a:ext cx="3000000" cy="28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Query 19 – Fastest Trending Videos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Celebrity and tech-related videos trended immediately.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Strong audience interest accelerated visibility.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Query 20 – Slowest Trending Categories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Education took the longest time to trend.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Music and Film categories also needed sustained traction.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30f6acf4b_0_324"/>
          <p:cNvSpPr txBox="1"/>
          <p:nvPr>
            <p:ph type="title"/>
          </p:nvPr>
        </p:nvSpPr>
        <p:spPr>
          <a:xfrm>
            <a:off x="720000" y="1062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V) COUNTRY WISE ANALYSIS </a:t>
            </a:r>
            <a:endParaRPr sz="3300"/>
          </a:p>
        </p:txBody>
      </p:sp>
      <p:pic>
        <p:nvPicPr>
          <p:cNvPr id="304" name="Google Shape;304;g3e30f6acf4b_0_3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49" y="1042375"/>
            <a:ext cx="2309450" cy="15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e30f6acf4b_0_3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6848" y="1042363"/>
            <a:ext cx="2675400" cy="150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3e30f6acf4b_0_3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200" y="1001100"/>
            <a:ext cx="3021625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e30f6acf4b_0_3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450" y="2835700"/>
            <a:ext cx="1956000" cy="15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e30f6acf4b_0_3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15525" y="2835700"/>
            <a:ext cx="19149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e30f6acf4b_0_3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3075" y="2792625"/>
            <a:ext cx="2076214" cy="17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30f6acf4b_0_341"/>
          <p:cNvSpPr txBox="1"/>
          <p:nvPr>
            <p:ph type="title"/>
          </p:nvPr>
        </p:nvSpPr>
        <p:spPr>
          <a:xfrm>
            <a:off x="720000" y="1062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V) COUNTRY WISE ANALYSIS </a:t>
            </a:r>
            <a:endParaRPr sz="3300"/>
          </a:p>
        </p:txBody>
      </p:sp>
      <p:pic>
        <p:nvPicPr>
          <p:cNvPr id="315" name="Google Shape;315;g3e30f6acf4b_0_3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50" y="1033175"/>
            <a:ext cx="3825100" cy="1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e30f6acf4b_0_3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850" y="1114125"/>
            <a:ext cx="326707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e30f6acf4b_0_3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8300" y="2928650"/>
            <a:ext cx="1974080" cy="19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e30f6acf4b_0_3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4175" y="2969125"/>
            <a:ext cx="2913247" cy="1910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30f6acf4b_0_355"/>
          <p:cNvSpPr txBox="1"/>
          <p:nvPr>
            <p:ph type="title"/>
          </p:nvPr>
        </p:nvSpPr>
        <p:spPr>
          <a:xfrm>
            <a:off x="720000" y="375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Country Wise Overview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g3e30f6acf4b_0_355"/>
          <p:cNvSpPr txBox="1"/>
          <p:nvPr/>
        </p:nvSpPr>
        <p:spPr>
          <a:xfrm>
            <a:off x="692250" y="1124400"/>
            <a:ext cx="4797600" cy="3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21 – Total Videos by Country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US uploaded the highest number of trending videos.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Canada and Germany showed similar trending activity.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Trending content was concentrated across major global markets.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22 – Average Views by Country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UK achieved the highest average views per video.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US and Canada maintained strong audience reach.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Indian content also showed high average visibility.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23 – Highest Engagement Country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Russia recorded the strongest engagement rate.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Mexico and France also showed active audience interaction.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High engagement was not always linked to highest views.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5" name="Google Shape;325;g3e30f6acf4b_0_355"/>
          <p:cNvSpPr txBox="1"/>
          <p:nvPr/>
        </p:nvSpPr>
        <p:spPr>
          <a:xfrm>
            <a:off x="5387625" y="1124400"/>
            <a:ext cx="3632400" cy="25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24 – Most Popular Category by Country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Entertainment dominated in most countries.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Music was especially popular in the UK.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Russia showed stronger preference for People &amp; Blogs content.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Query 25 – Country with Highest Likes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UK generated the highest total likes.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US ranked second in audience appreciation.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Music-heavy regions showed stronger interaction levels.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30f6acf4b_0_370"/>
          <p:cNvSpPr txBox="1"/>
          <p:nvPr>
            <p:ph type="title"/>
          </p:nvPr>
        </p:nvSpPr>
        <p:spPr>
          <a:xfrm>
            <a:off x="720000" y="1062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VI) </a:t>
            </a:r>
            <a:r>
              <a:rPr lang="en-US" sz="3300"/>
              <a:t>TITLE &amp; TAG ANALYSIS</a:t>
            </a:r>
            <a:endParaRPr sz="3300"/>
          </a:p>
        </p:txBody>
      </p:sp>
      <p:pic>
        <p:nvPicPr>
          <p:cNvPr id="331" name="Google Shape;331;g3e30f6acf4b_0_3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1350"/>
            <a:ext cx="25785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e30f6acf4b_0_3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900" y="802775"/>
            <a:ext cx="27439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e30f6acf4b_0_3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03000"/>
            <a:ext cx="2633685" cy="23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e30f6acf4b_0_3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64860" y="2621613"/>
            <a:ext cx="24765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e30f6acf4b_0_3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8985" y="704713"/>
            <a:ext cx="3424215" cy="1790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e30f6acf4b_0_3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1635" y="2689623"/>
            <a:ext cx="27051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30f6acf4b_0_387"/>
          <p:cNvSpPr txBox="1"/>
          <p:nvPr>
            <p:ph type="title"/>
          </p:nvPr>
        </p:nvSpPr>
        <p:spPr>
          <a:xfrm>
            <a:off x="720000" y="1062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VI) TITLE &amp; TAG ANALYSIS</a:t>
            </a:r>
            <a:endParaRPr sz="3300"/>
          </a:p>
        </p:txBody>
      </p:sp>
      <p:pic>
        <p:nvPicPr>
          <p:cNvPr id="342" name="Google Shape;342;g3e30f6acf4b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25" y="1105675"/>
            <a:ext cx="3601900" cy="15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e30f6acf4b_0_3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650" y="2810650"/>
            <a:ext cx="255270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e30f6acf4b_0_3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1900" y="1006075"/>
            <a:ext cx="3218550" cy="168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e30f6acf4b_0_3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2675" y="2810650"/>
            <a:ext cx="2781725" cy="184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30f6acf4b_0_401"/>
          <p:cNvSpPr txBox="1"/>
          <p:nvPr>
            <p:ph type="title"/>
          </p:nvPr>
        </p:nvSpPr>
        <p:spPr>
          <a:xfrm>
            <a:off x="720000" y="3753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Tag and Title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 Insights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1" name="Google Shape;351;g3e30f6acf4b_0_401"/>
          <p:cNvSpPr txBox="1"/>
          <p:nvPr/>
        </p:nvSpPr>
        <p:spPr>
          <a:xfrm>
            <a:off x="720000" y="1159650"/>
            <a:ext cx="58866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Movie, Sports, and News videos used longer titles, likely to provide more context and attract clicks.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Medium-length titles performed best overall, suggesting balanced and readable titles gain more traction.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Videos with higher tag usage appeared more often in trending results, indicating better discoverability.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Pets &amp; Animals, Movies, and Travel categories relied heavily on tags to improve search visibility.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Highly engaged channels were not always the biggest channels, showing that audience interaction matters more than size alone.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e5701ff6f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75" y="913750"/>
            <a:ext cx="57340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e5701ff6f4_0_4"/>
          <p:cNvSpPr txBox="1"/>
          <p:nvPr/>
        </p:nvSpPr>
        <p:spPr>
          <a:xfrm>
            <a:off x="6219900" y="1046925"/>
            <a:ext cx="28056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The dataset contains approximately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492 billion views, 14 billion likes, and 2 billion comments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, indicating massive audience activity across trending videos.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Music, Movies, and Film &amp; Animation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categories generated the highest average views, making them the strongest-performing content segments.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The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United Kingdom and United States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contributed the highest share of total views among analyzed countries.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8" name="Google Shape;358;g3e5701ff6f4_0_4"/>
          <p:cNvSpPr txBox="1"/>
          <p:nvPr/>
        </p:nvSpPr>
        <p:spPr>
          <a:xfrm>
            <a:off x="390075" y="251250"/>
            <a:ext cx="32550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POWER BI ANALYSIS:</a:t>
            </a:r>
            <a:endParaRPr b="1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g3e5701ff6f4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50" y="1096175"/>
            <a:ext cx="57340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e5701ff6f4_0_31"/>
          <p:cNvSpPr txBox="1"/>
          <p:nvPr/>
        </p:nvSpPr>
        <p:spPr>
          <a:xfrm>
            <a:off x="6330925" y="1169850"/>
            <a:ext cx="26061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Friday emerged as the best publishing day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, generating the highest total video views among all weekdays.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Videos published during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peak evening and late-night hours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achieved higher average view counts compared to other publishing times.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Medium-length titles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represented the largest proportion of trending videos, suggesting balanced title lengths improve discoverability.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g3e5701ff6f4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75" y="854313"/>
            <a:ext cx="57340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e5701ff6f4_0_36"/>
          <p:cNvSpPr txBox="1"/>
          <p:nvPr/>
        </p:nvSpPr>
        <p:spPr>
          <a:xfrm>
            <a:off x="6144000" y="1015375"/>
            <a:ext cx="30000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Nearly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69% of videos fall under the low-engagement category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, while highly engaged videos constitute a smaller portion of the dataset.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Videos with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comments enabled achieved significantly higher engagement rates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compared to videos with disabled comments.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Categories such as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How-to &amp; Style, Gaming, and Education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 recorded the highest engagement rates, indicating stronger audience interaction.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e5701ff6f4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000" y="985900"/>
            <a:ext cx="573405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e5701ff6f4_0_41"/>
          <p:cNvSpPr txBox="1"/>
          <p:nvPr/>
        </p:nvSpPr>
        <p:spPr>
          <a:xfrm>
            <a:off x="6144000" y="1315025"/>
            <a:ext cx="30000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Most trending videos belong to the </a:t>
            </a:r>
            <a:r>
              <a:rPr b="1" lang="en-US" sz="1100">
                <a:latin typeface="DM Sans"/>
                <a:ea typeface="DM Sans"/>
                <a:cs typeface="DM Sans"/>
                <a:sym typeface="DM Sans"/>
              </a:rPr>
              <a:t>medium view-range bucket</a:t>
            </a: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, showing that trending success is not limited to extremely viral videos.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Trending activity peaks during specific publishing hours, highlighting the importance of publication timing in content visibility.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• A small number of videos account for exceptionally high view counts, with music and entertainment content dominating the top-performing positions.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e5701ff6f4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75" y="803000"/>
            <a:ext cx="573405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e5701ff6f4_0_46"/>
          <p:cNvSpPr txBox="1"/>
          <p:nvPr/>
        </p:nvSpPr>
        <p:spPr>
          <a:xfrm>
            <a:off x="6181100" y="1004275"/>
            <a:ext cx="30000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• A limited number of channels contribute a significant share of total platform views, indicating </a:t>
            </a: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creator concentration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among top performers.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• Channels with higher average likes generally recorded higher comment activity, suggesting a </a:t>
            </a: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positive relationship between audience appreciation and interaction.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• Certain creators consistently achieved higher engagement rates, demonstrating the importance of</a:t>
            </a:r>
            <a:r>
              <a:rPr b="1" lang="en-US" sz="1200">
                <a:latin typeface="DM Sans"/>
                <a:ea typeface="DM Sans"/>
                <a:cs typeface="DM Sans"/>
                <a:sym typeface="DM Sans"/>
              </a:rPr>
              <a:t> audience loyalty and content quality.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g3e5701ff6f4_0_46"/>
          <p:cNvSpPr txBox="1"/>
          <p:nvPr/>
        </p:nvSpPr>
        <p:spPr>
          <a:xfrm>
            <a:off x="305800" y="292175"/>
            <a:ext cx="40671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Channel and Creator Analysis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5701ff6f4_0_51"/>
          <p:cNvSpPr txBox="1"/>
          <p:nvPr/>
        </p:nvSpPr>
        <p:spPr>
          <a:xfrm>
            <a:off x="749075" y="926600"/>
            <a:ext cx="70560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Music and Entertainment 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generate the 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highest views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, making them the strongest categories for audience reach.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How-to &amp; Style, Gaming, and Education 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achieve higher engagement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despite lower overall views.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Publishing time significantly affects performance, with 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Thursday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, Friday, and evening 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uploads performing best.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Videos with 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comments enabled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show much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 higher engagement rates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than those with comments disabled.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Russia and Mexico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exhibit the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highest engagement rates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, indicating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 highly active audiences.</a:t>
            </a:r>
            <a:endParaRPr b="1" sz="1200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Medium-length titles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and effective tag usage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 improve discoverability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and trending potential.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Early audience response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is critical, as successful videos tend to</a:t>
            </a:r>
            <a:r>
              <a:rPr b="1" lang="en-US" sz="12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 trend shortly</a:t>
            </a: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 after publication.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g3e5701ff6f4_0_51"/>
          <p:cNvSpPr txBox="1"/>
          <p:nvPr/>
        </p:nvSpPr>
        <p:spPr>
          <a:xfrm>
            <a:off x="865575" y="3717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Overall Observations:</a:t>
            </a:r>
            <a:endParaRPr sz="1700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e5701ff6f4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0" y="940900"/>
            <a:ext cx="7326350" cy="304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e5701ff6f4_0_75"/>
          <p:cNvSpPr txBox="1"/>
          <p:nvPr/>
        </p:nvSpPr>
        <p:spPr>
          <a:xfrm>
            <a:off x="772075" y="360050"/>
            <a:ext cx="467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Actionable Recommendations</a:t>
            </a:r>
            <a:r>
              <a:rPr b="1" lang="en-US" sz="180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700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Srimathi K</dc:creator>
</cp:coreProperties>
</file>
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5143500" cx="9144000"/>
  <p:notesSz cx="6858000" cy="9144000"/>
  <p:embeddedFontLst>
    <p:embeddedFont>
      <p:font typeface="Outfit"/>
      <p:regular r:id="rId17"/>
      <p:bold r:id="rId18"/>
    </p:embeddedFont>
    <p:embeddedFont>
      <p:font typeface="Outfit Medium"/>
      <p:regular r:id="rId19"/>
      <p:bold r:id="rId20"/>
    </p:embeddedFont>
    <p:embeddedFont>
      <p:font typeface="DM Sans"/>
      <p:regular r:id="rId21"/>
      <p:bold r:id="rId22"/>
      <p:italic r:id="rId23"/>
      <p:boldItalic r:id="rId24"/>
    </p:embeddedFont>
    <p:embeddedFont>
      <p:font typeface="Archivo Black"/>
      <p:regular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6" roundtripDataSignature="AMtx7mgoERobFauwxBN/qPFBThxzuipH5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utfitMedium-bold.fntdata"/><Relationship Id="rId22" Type="http://schemas.openxmlformats.org/officeDocument/2006/relationships/font" Target="fonts/DMSans-bold.fntdata"/><Relationship Id="rId21" Type="http://schemas.openxmlformats.org/officeDocument/2006/relationships/font" Target="fonts/DMSans-regular.fntdata"/><Relationship Id="rId24" Type="http://schemas.openxmlformats.org/officeDocument/2006/relationships/font" Target="fonts/DMSans-boldItalic.fntdata"/><Relationship Id="rId23" Type="http://schemas.openxmlformats.org/officeDocument/2006/relationships/font" Target="fonts/DMSans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customschemas.google.com/relationships/presentationmetadata" Target="metadata"/><Relationship Id="rId25" Type="http://schemas.openxmlformats.org/officeDocument/2006/relationships/font" Target="fonts/ArchivoBlack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Outfit-regular.fntdata"/><Relationship Id="rId16" Type="http://schemas.openxmlformats.org/officeDocument/2006/relationships/slide" Target="slides/slide12.xml"/><Relationship Id="rId19" Type="http://schemas.openxmlformats.org/officeDocument/2006/relationships/font" Target="fonts/OutfitMedium-regular.fntdata"/><Relationship Id="rId18" Type="http://schemas.openxmlformats.org/officeDocument/2006/relationships/font" Target="fonts/Outfit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" name="Google Shape;5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b260f267e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b260f267e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b260f267e4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b260f267e4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b260f267e4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b260f267e4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b260f267e4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b260f267e4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b260f267e4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b260f267e4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b260f267e4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b260f267e4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b260f267e4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b260f267e4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b260f267e4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b260f267e4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b260f267e4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b260f267e4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b260f267e4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b260f267e4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19"/>
          <p:cNvSpPr txBox="1"/>
          <p:nvPr>
            <p:ph type="ctrTitle"/>
          </p:nvPr>
        </p:nvSpPr>
        <p:spPr>
          <a:xfrm>
            <a:off x="713225" y="1156000"/>
            <a:ext cx="4160700" cy="2385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0" name="Google Shape;10;p19"/>
          <p:cNvSpPr txBox="1"/>
          <p:nvPr>
            <p:ph idx="1" type="subTitle"/>
          </p:nvPr>
        </p:nvSpPr>
        <p:spPr>
          <a:xfrm>
            <a:off x="713225" y="3541600"/>
            <a:ext cx="41607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0"/>
          <p:cNvSpPr txBox="1"/>
          <p:nvPr>
            <p:ph type="title"/>
          </p:nvPr>
        </p:nvSpPr>
        <p:spPr>
          <a:xfrm>
            <a:off x="720000" y="445025"/>
            <a:ext cx="5549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3" name="Google Shape;13;p20"/>
          <p:cNvSpPr txBox="1"/>
          <p:nvPr>
            <p:ph idx="1" type="subTitle"/>
          </p:nvPr>
        </p:nvSpPr>
        <p:spPr>
          <a:xfrm>
            <a:off x="720000" y="1652075"/>
            <a:ext cx="4294800" cy="21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TITLE_AND_BODY_1_1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oogle Shape;15;p21"/>
          <p:cNvGrpSpPr/>
          <p:nvPr/>
        </p:nvGrpSpPr>
        <p:grpSpPr>
          <a:xfrm>
            <a:off x="-535133" y="-37823"/>
            <a:ext cx="10207495" cy="5621696"/>
            <a:chOff x="-535133" y="-37823"/>
            <a:chExt cx="10207495" cy="5621696"/>
          </a:xfrm>
        </p:grpSpPr>
        <p:sp>
          <p:nvSpPr>
            <p:cNvPr id="16" name="Google Shape;16;p21"/>
            <p:cNvSpPr/>
            <p:nvPr/>
          </p:nvSpPr>
          <p:spPr>
            <a:xfrm>
              <a:off x="-125473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21"/>
            <p:cNvSpPr/>
            <p:nvPr/>
          </p:nvSpPr>
          <p:spPr>
            <a:xfrm>
              <a:off x="-535133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3333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8;p21"/>
            <p:cNvSpPr/>
            <p:nvPr/>
          </p:nvSpPr>
          <p:spPr>
            <a:xfrm rot="10800000">
              <a:off x="8833642" y="-3782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21"/>
            <p:cNvSpPr/>
            <p:nvPr/>
          </p:nvSpPr>
          <p:spPr>
            <a:xfrm rot="10800000">
              <a:off x="8430777" y="41907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3921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21"/>
            <p:cNvSpPr/>
            <p:nvPr/>
          </p:nvSpPr>
          <p:spPr>
            <a:xfrm flipH="1">
              <a:off x="8423992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21"/>
            <p:cNvSpPr/>
            <p:nvPr/>
          </p:nvSpPr>
          <p:spPr>
            <a:xfrm flipH="1">
              <a:off x="883365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0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21"/>
            <p:cNvSpPr/>
            <p:nvPr/>
          </p:nvSpPr>
          <p:spPr>
            <a:xfrm flipH="1" rot="10800000">
              <a:off x="-528348" y="-3782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23;p21"/>
            <p:cNvSpPr/>
            <p:nvPr/>
          </p:nvSpPr>
          <p:spPr>
            <a:xfrm flipH="1" rot="10800000">
              <a:off x="-125483" y="41907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0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" name="Google Shape;24;p2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5" name="Google Shape;25;p21"/>
          <p:cNvSpPr txBox="1"/>
          <p:nvPr>
            <p:ph idx="1" type="body"/>
          </p:nvPr>
        </p:nvSpPr>
        <p:spPr>
          <a:xfrm>
            <a:off x="720000" y="1215749"/>
            <a:ext cx="7704000" cy="31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○"/>
              <a:defRPr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○"/>
              <a:defRPr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oogle Shape;28;p23"/>
          <p:cNvGrpSpPr/>
          <p:nvPr/>
        </p:nvGrpSpPr>
        <p:grpSpPr>
          <a:xfrm>
            <a:off x="-247298" y="-446215"/>
            <a:ext cx="9638610" cy="6030088"/>
            <a:chOff x="-247298" y="-446215"/>
            <a:chExt cx="9638610" cy="6030088"/>
          </a:xfrm>
        </p:grpSpPr>
        <p:sp>
          <p:nvSpPr>
            <p:cNvPr id="29" name="Google Shape;29;p23"/>
            <p:cNvSpPr/>
            <p:nvPr/>
          </p:nvSpPr>
          <p:spPr>
            <a:xfrm>
              <a:off x="-125573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23"/>
            <p:cNvSpPr/>
            <p:nvPr/>
          </p:nvSpPr>
          <p:spPr>
            <a:xfrm>
              <a:off x="-125583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3921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23"/>
            <p:cNvSpPr/>
            <p:nvPr/>
          </p:nvSpPr>
          <p:spPr>
            <a:xfrm flipH="1" rot="10800000">
              <a:off x="-247298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p23"/>
            <p:cNvSpPr/>
            <p:nvPr/>
          </p:nvSpPr>
          <p:spPr>
            <a:xfrm flipH="1" rot="10800000">
              <a:off x="346967" y="-4462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3921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p23"/>
            <p:cNvSpPr/>
            <p:nvPr/>
          </p:nvSpPr>
          <p:spPr>
            <a:xfrm rot="10800000">
              <a:off x="7958317" y="-42862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23"/>
            <p:cNvSpPr/>
            <p:nvPr/>
          </p:nvSpPr>
          <p:spPr>
            <a:xfrm rot="10800000">
              <a:off x="8552602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0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p23"/>
            <p:cNvSpPr/>
            <p:nvPr/>
          </p:nvSpPr>
          <p:spPr>
            <a:xfrm>
              <a:off x="8430777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36;p23"/>
            <p:cNvSpPr/>
            <p:nvPr/>
          </p:nvSpPr>
          <p:spPr>
            <a:xfrm>
              <a:off x="8430767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0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oogle Shape;38;p24"/>
          <p:cNvGrpSpPr/>
          <p:nvPr/>
        </p:nvGrpSpPr>
        <p:grpSpPr>
          <a:xfrm>
            <a:off x="-476796" y="2900252"/>
            <a:ext cx="10097585" cy="2865204"/>
            <a:chOff x="-476796" y="2900252"/>
            <a:chExt cx="10097585" cy="2865204"/>
          </a:xfrm>
        </p:grpSpPr>
        <p:grpSp>
          <p:nvGrpSpPr>
            <p:cNvPr id="39" name="Google Shape;39;p24"/>
            <p:cNvGrpSpPr/>
            <p:nvPr/>
          </p:nvGrpSpPr>
          <p:grpSpPr>
            <a:xfrm>
              <a:off x="-476796" y="2900252"/>
              <a:ext cx="10097585" cy="2865204"/>
              <a:chOff x="-476796" y="2900252"/>
              <a:chExt cx="10097585" cy="2865204"/>
            </a:xfrm>
          </p:grpSpPr>
          <p:sp>
            <p:nvSpPr>
              <p:cNvPr id="40" name="Google Shape;40;p24"/>
              <p:cNvSpPr/>
              <p:nvPr/>
            </p:nvSpPr>
            <p:spPr>
              <a:xfrm flipH="1" rot="10800000">
                <a:off x="-266661" y="2900252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" name="Google Shape;41;p24"/>
              <p:cNvSpPr/>
              <p:nvPr/>
            </p:nvSpPr>
            <p:spPr>
              <a:xfrm>
                <a:off x="-90736" y="4425247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dk2"/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" name="Google Shape;42;p24"/>
              <p:cNvSpPr/>
              <p:nvPr/>
            </p:nvSpPr>
            <p:spPr>
              <a:xfrm>
                <a:off x="-476796" y="3522814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AFC7FF">
                  <a:alpha val="23921"/>
                </a:srgbClr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43;p24"/>
              <p:cNvSpPr/>
              <p:nvPr/>
            </p:nvSpPr>
            <p:spPr>
              <a:xfrm rot="10800000">
                <a:off x="8571944" y="2900252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lt2"/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44;p24"/>
              <p:cNvSpPr/>
              <p:nvPr/>
            </p:nvSpPr>
            <p:spPr>
              <a:xfrm flipH="1">
                <a:off x="8396019" y="4425247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" name="Google Shape;45;p24"/>
              <p:cNvSpPr/>
              <p:nvPr/>
            </p:nvSpPr>
            <p:spPr>
              <a:xfrm flipH="1">
                <a:off x="8782079" y="3522814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9FCBFD">
                  <a:alpha val="40000"/>
                </a:srgbClr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" name="Google Shape;46;p24"/>
              <p:cNvSpPr/>
              <p:nvPr/>
            </p:nvSpPr>
            <p:spPr>
              <a:xfrm rot="10800000">
                <a:off x="8009979" y="4797335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68DAF8">
                  <a:alpha val="33333"/>
                </a:srgbClr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7" name="Google Shape;47;p24"/>
            <p:cNvSpPr/>
            <p:nvPr/>
          </p:nvSpPr>
          <p:spPr>
            <a:xfrm flipH="1" rot="10800000">
              <a:off x="293867" y="47973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3333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"/>
              <a:buNone/>
              <a:defRPr b="1" i="0" sz="35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b="0" i="0" sz="3500" u="none" cap="none" strike="noStrik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b="0" i="0" sz="3500" u="none" cap="none" strike="noStrik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b="0" i="0" sz="3500" u="none" cap="none" strike="noStrik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b="0" i="0" sz="3500" u="none" cap="none" strike="noStrik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b="0" i="0" sz="3500" u="none" cap="none" strike="noStrik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b="0" i="0" sz="3500" u="none" cap="none" strike="noStrik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b="0" i="0" sz="3500" u="none" cap="none" strike="noStrik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b="0" i="0" sz="3500" u="none" cap="none" strike="noStrik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9pPr>
          </a:lstStyle>
          <a:p/>
        </p:txBody>
      </p:sp>
      <p:sp>
        <p:nvSpPr>
          <p:cNvPr id="7" name="Google Shape;7;p18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 b="0" i="0" sz="1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 b="0" i="0" sz="1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 b="0" i="0" sz="1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 b="0" i="0" sz="1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 b="0" i="0" sz="1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 b="0" i="0" sz="1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 b="0" i="0" sz="1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 b="0" i="0" sz="1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 b="0" i="0" sz="1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"/>
          <p:cNvSpPr txBox="1"/>
          <p:nvPr>
            <p:ph type="ctrTitle"/>
          </p:nvPr>
        </p:nvSpPr>
        <p:spPr>
          <a:xfrm>
            <a:off x="713225" y="868050"/>
            <a:ext cx="4513200" cy="2385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3000">
                <a:solidFill>
                  <a:srgbClr val="000000"/>
                </a:solidFill>
              </a:rPr>
              <a:t>Instagram Performance Analytics for Sugar Cosmetics</a:t>
            </a:r>
            <a:endParaRPr sz="3000"/>
          </a:p>
        </p:txBody>
      </p:sp>
      <p:sp>
        <p:nvSpPr>
          <p:cNvPr id="53" name="Google Shape;53;p1"/>
          <p:cNvSpPr txBox="1"/>
          <p:nvPr>
            <p:ph idx="1" type="subTitle"/>
          </p:nvPr>
        </p:nvSpPr>
        <p:spPr>
          <a:xfrm>
            <a:off x="713225" y="3541600"/>
            <a:ext cx="41607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BY: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SRIMATHI K</a:t>
            </a:r>
            <a:endParaRPr/>
          </a:p>
        </p:txBody>
      </p:sp>
      <p:cxnSp>
        <p:nvCxnSpPr>
          <p:cNvPr id="54" name="Google Shape;54;p1"/>
          <p:cNvCxnSpPr/>
          <p:nvPr/>
        </p:nvCxnSpPr>
        <p:spPr>
          <a:xfrm>
            <a:off x="823425" y="987213"/>
            <a:ext cx="373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55" name="Google Shape;55;p1"/>
          <p:cNvGrpSpPr/>
          <p:nvPr/>
        </p:nvGrpSpPr>
        <p:grpSpPr>
          <a:xfrm>
            <a:off x="5115337" y="-428624"/>
            <a:ext cx="4275118" cy="6450405"/>
            <a:chOff x="5115337" y="-428624"/>
            <a:chExt cx="4275118" cy="6450405"/>
          </a:xfrm>
        </p:grpSpPr>
        <p:sp>
          <p:nvSpPr>
            <p:cNvPr id="56" name="Google Shape;56;p1"/>
            <p:cNvSpPr/>
            <p:nvPr/>
          </p:nvSpPr>
          <p:spPr>
            <a:xfrm flipH="1" rot="10800000">
              <a:off x="8492525" y="-19272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" name="Google Shape;57;p1"/>
            <p:cNvSpPr/>
            <p:nvPr/>
          </p:nvSpPr>
          <p:spPr>
            <a:xfrm>
              <a:off x="8551745" y="326783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1"/>
            <p:cNvSpPr/>
            <p:nvPr/>
          </p:nvSpPr>
          <p:spPr>
            <a:xfrm>
              <a:off x="6606686" y="254737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59;p1"/>
            <p:cNvSpPr/>
            <p:nvPr/>
          </p:nvSpPr>
          <p:spPr>
            <a:xfrm>
              <a:off x="7103477" y="-15337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60;p1"/>
            <p:cNvSpPr/>
            <p:nvPr/>
          </p:nvSpPr>
          <p:spPr>
            <a:xfrm>
              <a:off x="6684072" y="318466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0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p1"/>
            <p:cNvSpPr/>
            <p:nvPr/>
          </p:nvSpPr>
          <p:spPr>
            <a:xfrm>
              <a:off x="6109895" y="1194084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Google Shape;62;p1"/>
            <p:cNvSpPr/>
            <p:nvPr/>
          </p:nvSpPr>
          <p:spPr>
            <a:xfrm>
              <a:off x="6109895" y="697741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3921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" name="Google Shape;63;p1"/>
            <p:cNvSpPr/>
            <p:nvPr/>
          </p:nvSpPr>
          <p:spPr>
            <a:xfrm>
              <a:off x="7587339" y="119407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" name="Google Shape;64;p1"/>
            <p:cNvSpPr/>
            <p:nvPr/>
          </p:nvSpPr>
          <p:spPr>
            <a:xfrm>
              <a:off x="5634170" y="-428624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1"/>
            <p:cNvSpPr/>
            <p:nvPr/>
          </p:nvSpPr>
          <p:spPr>
            <a:xfrm>
              <a:off x="7017892" y="207505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0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" name="Google Shape;66;p1"/>
            <p:cNvSpPr/>
            <p:nvPr/>
          </p:nvSpPr>
          <p:spPr>
            <a:xfrm>
              <a:off x="5193798" y="1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3333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67;p1"/>
            <p:cNvSpPr/>
            <p:nvPr/>
          </p:nvSpPr>
          <p:spPr>
            <a:xfrm>
              <a:off x="8068891" y="16222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3333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68;p1"/>
            <p:cNvSpPr/>
            <p:nvPr/>
          </p:nvSpPr>
          <p:spPr>
            <a:xfrm flipH="1" rot="10800000">
              <a:off x="5115337" y="365597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69;p1"/>
            <p:cNvSpPr/>
            <p:nvPr/>
          </p:nvSpPr>
          <p:spPr>
            <a:xfrm flipH="1" rot="10800000">
              <a:off x="6606680" y="392470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p1"/>
            <p:cNvSpPr/>
            <p:nvPr/>
          </p:nvSpPr>
          <p:spPr>
            <a:xfrm flipH="1" rot="10800000">
              <a:off x="5983934" y="505366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1"/>
            <p:cNvSpPr/>
            <p:nvPr/>
          </p:nvSpPr>
          <p:spPr>
            <a:xfrm flipH="1" rot="10800000">
              <a:off x="7178797" y="353334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3921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1"/>
            <p:cNvSpPr/>
            <p:nvPr/>
          </p:nvSpPr>
          <p:spPr>
            <a:xfrm flipH="1" rot="10800000">
              <a:off x="6606686" y="4609409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3921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1"/>
            <p:cNvSpPr/>
            <p:nvPr/>
          </p:nvSpPr>
          <p:spPr>
            <a:xfrm flipH="1" rot="10800000">
              <a:off x="5526543" y="412830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3333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1"/>
            <p:cNvSpPr/>
            <p:nvPr/>
          </p:nvSpPr>
          <p:spPr>
            <a:xfrm>
              <a:off x="8117298" y="285223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0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1"/>
            <p:cNvSpPr/>
            <p:nvPr/>
          </p:nvSpPr>
          <p:spPr>
            <a:xfrm>
              <a:off x="8172542" y="30360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0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"/>
          <p:cNvSpPr txBox="1"/>
          <p:nvPr>
            <p:ph type="title"/>
          </p:nvPr>
        </p:nvSpPr>
        <p:spPr>
          <a:xfrm>
            <a:off x="114299" y="365055"/>
            <a:ext cx="6155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-US"/>
              <a:t>Problem Statement</a:t>
            </a:r>
            <a:br>
              <a:rPr lang="en-US"/>
            </a:br>
            <a:endParaRPr/>
          </a:p>
        </p:txBody>
      </p:sp>
      <p:grpSp>
        <p:nvGrpSpPr>
          <p:cNvPr id="81" name="Google Shape;81;p2"/>
          <p:cNvGrpSpPr/>
          <p:nvPr/>
        </p:nvGrpSpPr>
        <p:grpSpPr>
          <a:xfrm>
            <a:off x="5430930" y="-445784"/>
            <a:ext cx="4086563" cy="6064817"/>
            <a:chOff x="5430930" y="-445784"/>
            <a:chExt cx="4086563" cy="6064817"/>
          </a:xfrm>
        </p:grpSpPr>
        <p:sp>
          <p:nvSpPr>
            <p:cNvPr id="82" name="Google Shape;82;p2"/>
            <p:cNvSpPr/>
            <p:nvPr/>
          </p:nvSpPr>
          <p:spPr>
            <a:xfrm>
              <a:off x="7368520" y="988766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2"/>
            <p:cNvSpPr/>
            <p:nvPr/>
          </p:nvSpPr>
          <p:spPr>
            <a:xfrm flipH="1" rot="10800000">
              <a:off x="6036409" y="196217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7309474" y="21661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6269702" y="-445784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5830483" y="4215884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6269683" y="1332541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392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2"/>
            <p:cNvSpPr/>
            <p:nvPr/>
          </p:nvSpPr>
          <p:spPr>
            <a:xfrm>
              <a:off x="8430764" y="23422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2"/>
            <p:cNvSpPr/>
            <p:nvPr/>
          </p:nvSpPr>
          <p:spPr>
            <a:xfrm>
              <a:off x="7309467" y="261820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392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90;p2"/>
            <p:cNvSpPr/>
            <p:nvPr/>
          </p:nvSpPr>
          <p:spPr>
            <a:xfrm>
              <a:off x="7962441" y="1318014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0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p2"/>
            <p:cNvSpPr/>
            <p:nvPr/>
          </p:nvSpPr>
          <p:spPr>
            <a:xfrm flipH="1" rot="10800000">
              <a:off x="6351880" y="311086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2"/>
            <p:cNvSpPr/>
            <p:nvPr/>
          </p:nvSpPr>
          <p:spPr>
            <a:xfrm flipH="1" rot="10800000">
              <a:off x="6790284" y="354856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392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2"/>
            <p:cNvSpPr/>
            <p:nvPr/>
          </p:nvSpPr>
          <p:spPr>
            <a:xfrm flipH="1" rot="10800000">
              <a:off x="5430930" y="465091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0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2"/>
            <p:cNvSpPr/>
            <p:nvPr/>
          </p:nvSpPr>
          <p:spPr>
            <a:xfrm>
              <a:off x="8678783" y="2668826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8430773" y="223598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0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2"/>
            <p:cNvSpPr/>
            <p:nvPr/>
          </p:nvSpPr>
          <p:spPr>
            <a:xfrm flipH="1" rot="10800000">
              <a:off x="8119787" y="363695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2"/>
            <p:cNvSpPr/>
            <p:nvPr/>
          </p:nvSpPr>
          <p:spPr>
            <a:xfrm flipH="1" rot="10800000">
              <a:off x="7697255" y="411247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333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6628072" y="112491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333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2"/>
            <p:cNvSpPr/>
            <p:nvPr/>
          </p:nvSpPr>
          <p:spPr>
            <a:xfrm flipH="1" rot="10800000">
              <a:off x="7825159" y="-25148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0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0" name="Google Shape;100;p2"/>
          <p:cNvSpPr txBox="1"/>
          <p:nvPr>
            <p:ph idx="1" type="subTitle"/>
          </p:nvPr>
        </p:nvSpPr>
        <p:spPr>
          <a:xfrm>
            <a:off x="185504" y="1318014"/>
            <a:ext cx="5443800" cy="28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Analyze Sugar Cosmetics' Instagram performance and design an interactive Tableau dashboard to recommend strategic social media decisions.</a:t>
            </a:r>
            <a:endParaRPr sz="180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b260f267e4_0_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TASK 1</a:t>
            </a:r>
            <a:endParaRPr/>
          </a:p>
        </p:txBody>
      </p:sp>
      <p:sp>
        <p:nvSpPr>
          <p:cNvPr id="106" name="Google Shape;106;g3b260f267e4_0_0"/>
          <p:cNvSpPr txBox="1"/>
          <p:nvPr>
            <p:ph idx="1" type="body"/>
          </p:nvPr>
        </p:nvSpPr>
        <p:spPr>
          <a:xfrm>
            <a:off x="855050" y="1202650"/>
            <a:ext cx="4332000" cy="314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Insight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account shows a </a:t>
            </a:r>
            <a:r>
              <a:rPr b="1"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strong average engagement rate (~18.5%)</a:t>
            </a: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indicating content relevance.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High reach confirms the algorithm is distributing content effectively.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Engagement volume is skewed toward likes rather than comments, indicating </a:t>
            </a:r>
            <a:r>
              <a:rPr b="1"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low conversational engagement</a:t>
            </a: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Business Interpretation: </a:t>
            </a: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account is </a:t>
            </a:r>
            <a:r>
              <a:rPr b="1"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visible and engaging</a:t>
            </a: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but not fully driving community interaction.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b="1"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Action: </a:t>
            </a: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Shift from passive content to </a:t>
            </a:r>
            <a:r>
              <a:rPr b="1"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interactive formats</a:t>
            </a: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(polls, questions, CTA-driven captions).</a:t>
            </a:r>
            <a:b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7" name="Google Shape;107;g3b260f267e4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22700" y="1454213"/>
            <a:ext cx="3369750" cy="2235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b260f267e4_0_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TASK 2</a:t>
            </a:r>
            <a:endParaRPr/>
          </a:p>
        </p:txBody>
      </p:sp>
      <p:sp>
        <p:nvSpPr>
          <p:cNvPr id="113" name="Google Shape;113;g3b260f267e4_0_6"/>
          <p:cNvSpPr txBox="1"/>
          <p:nvPr>
            <p:ph idx="1" type="body"/>
          </p:nvPr>
        </p:nvSpPr>
        <p:spPr>
          <a:xfrm>
            <a:off x="5448975" y="1509875"/>
            <a:ext cx="3559800" cy="30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Insight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Posting frequency stabilized at a high level after early 2024.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Months with posting dips show </a:t>
            </a:r>
            <a:r>
              <a:rPr b="1"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potential engagement risk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Business Interpretation: </a:t>
            </a: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Consistency directly supports reach and engagement stability.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b="1"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Action: </a:t>
            </a: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Implement a </a:t>
            </a:r>
            <a:r>
              <a:rPr b="1"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monthly content calendar</a:t>
            </a: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with minimum posting benchmarks.</a:t>
            </a:r>
            <a:endParaRPr sz="1100"/>
          </a:p>
        </p:txBody>
      </p:sp>
      <p:pic>
        <p:nvPicPr>
          <p:cNvPr id="114" name="Google Shape;114;g3b260f267e4_0_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8250" y="1215750"/>
            <a:ext cx="4781226" cy="3013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b260f267e4_0_1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TASK 3</a:t>
            </a:r>
            <a:endParaRPr/>
          </a:p>
        </p:txBody>
      </p:sp>
      <p:sp>
        <p:nvSpPr>
          <p:cNvPr id="120" name="Google Shape;120;g3b260f267e4_0_12"/>
          <p:cNvSpPr txBox="1"/>
          <p:nvPr>
            <p:ph idx="1" type="body"/>
          </p:nvPr>
        </p:nvSpPr>
        <p:spPr>
          <a:xfrm>
            <a:off x="720000" y="3490675"/>
            <a:ext cx="7704000" cy="16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Insight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High-like posts are often visually appealing or campaign-driven.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These posts maximize </a:t>
            </a:r>
            <a:r>
              <a:rPr b="1"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reach</a:t>
            </a: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but do not always have high engagement rates.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Business Interpretation: </a:t>
            </a: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Likes measure popularity, not depth of connection.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Action: </a:t>
            </a: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 these posts for </a:t>
            </a:r>
            <a:r>
              <a:rPr b="1"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brand awareness</a:t>
            </a: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not engagement benchmarking.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1" name="Google Shape;121;g3b260f267e4_0_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000" y="1147988"/>
            <a:ext cx="7704001" cy="234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b260f267e4_0_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TASK 4</a:t>
            </a:r>
            <a:endParaRPr/>
          </a:p>
        </p:txBody>
      </p:sp>
      <p:sp>
        <p:nvSpPr>
          <p:cNvPr id="127" name="Google Shape;127;g3b260f267e4_0_18"/>
          <p:cNvSpPr txBox="1"/>
          <p:nvPr>
            <p:ph idx="1" type="body"/>
          </p:nvPr>
        </p:nvSpPr>
        <p:spPr>
          <a:xfrm>
            <a:off x="5056250" y="1215750"/>
            <a:ext cx="3367800" cy="314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Insight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Several posts with moderate likes show </a:t>
            </a:r>
            <a:r>
              <a:rPr b="1"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exceptionally high engagement rates</a:t>
            </a: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These posts resonate deeply with a specific audience segment.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Business Interpretation: </a:t>
            </a: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These are </a:t>
            </a:r>
            <a:r>
              <a:rPr b="1"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high-quality content assets</a:t>
            </a: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Action: 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Repurpose these posts into: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Reels</a:t>
            </a:r>
            <a:b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Story highlights</a:t>
            </a:r>
            <a:b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Paid promotion experiments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pic>
        <p:nvPicPr>
          <p:cNvPr id="128" name="Google Shape;128;g3b260f267e4_0_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000" y="1215750"/>
            <a:ext cx="4257725" cy="334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b260f267e4_0_2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TASK 5</a:t>
            </a:r>
            <a:endParaRPr/>
          </a:p>
        </p:txBody>
      </p:sp>
      <p:sp>
        <p:nvSpPr>
          <p:cNvPr id="134" name="Google Shape;134;g3b260f267e4_0_24"/>
          <p:cNvSpPr txBox="1"/>
          <p:nvPr>
            <p:ph idx="1" type="body"/>
          </p:nvPr>
        </p:nvSpPr>
        <p:spPr>
          <a:xfrm>
            <a:off x="5016975" y="1215750"/>
            <a:ext cx="3407100" cy="314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Insight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Reels and Stories outperform Images</a:t>
            </a: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 engagement.</a:t>
            </a:r>
            <a:b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Images are consistent but less interactive.</a:t>
            </a:r>
            <a:b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Business Interpretation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Instagram’s algorithm favors </a:t>
            </a:r>
            <a:r>
              <a:rPr b="1"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short-form and immersive formats</a:t>
            </a: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Action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Prioritize Reels for product launches and Stories for daily engagement.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pic>
        <p:nvPicPr>
          <p:cNvPr id="135" name="Google Shape;135;g3b260f267e4_0_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000" y="1215750"/>
            <a:ext cx="4179200" cy="314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b260f267e4_0_3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TASK 6</a:t>
            </a:r>
            <a:endParaRPr/>
          </a:p>
        </p:txBody>
      </p:sp>
      <p:sp>
        <p:nvSpPr>
          <p:cNvPr id="141" name="Google Shape;141;g3b260f267e4_0_30"/>
          <p:cNvSpPr txBox="1"/>
          <p:nvPr>
            <p:ph idx="1" type="body"/>
          </p:nvPr>
        </p:nvSpPr>
        <p:spPr>
          <a:xfrm>
            <a:off x="5645200" y="1215750"/>
            <a:ext cx="3154200" cy="314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Insight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Engagement peaks on </a:t>
            </a:r>
            <a:r>
              <a:rPr b="1"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Friday and Saturday</a:t>
            </a: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Weekdays perform steadily but lower.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Business Interpretation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Audience is more active and receptive on weekends.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Action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Schedule: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Campaign posts → weekends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Informational posts → weekdays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pic>
        <p:nvPicPr>
          <p:cNvPr id="142" name="Google Shape;142;g3b260f267e4_0_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3300" y="1215750"/>
            <a:ext cx="4671750" cy="3268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b260f267e4_0_3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TASK 7</a:t>
            </a:r>
            <a:endParaRPr/>
          </a:p>
        </p:txBody>
      </p:sp>
      <p:sp>
        <p:nvSpPr>
          <p:cNvPr id="148" name="Google Shape;148;g3b260f267e4_0_35"/>
          <p:cNvSpPr txBox="1"/>
          <p:nvPr>
            <p:ph idx="1" type="body"/>
          </p:nvPr>
        </p:nvSpPr>
        <p:spPr>
          <a:xfrm>
            <a:off x="720000" y="2978799"/>
            <a:ext cx="7704000" cy="138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Insight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Significant drop from Reach → Likes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Saves outperform comments.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Business Interpretation: </a:t>
            </a: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Content is valuable but lacks </a:t>
            </a:r>
            <a:r>
              <a:rPr b="1"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strong initial hooks</a:t>
            </a: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conversation starters.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b="1"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Action: </a:t>
            </a: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Improve first 3 seconds of reels, Add direct Hooks  like “Save for later” or “Comment your shade”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9" name="Google Shape;149;g3b260f267e4_0_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000" y="1116750"/>
            <a:ext cx="7704000" cy="176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b260f267e4_0_42"/>
          <p:cNvSpPr txBox="1"/>
          <p:nvPr>
            <p:ph idx="1" type="body"/>
          </p:nvPr>
        </p:nvSpPr>
        <p:spPr>
          <a:xfrm>
            <a:off x="720000" y="3372274"/>
            <a:ext cx="7704000" cy="153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Insight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Hashtags around </a:t>
            </a:r>
            <a:r>
              <a:rPr b="1"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Vegan, Cruelty-Free, Makeup Goals</a:t>
            </a: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perform best.</a:t>
            </a:r>
            <a:b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Ethical beauty messaging consistently drives engagement.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Business </a:t>
            </a:r>
            <a:r>
              <a:rPr b="1"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Interpretation: </a:t>
            </a: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Audience strongly aligns with </a:t>
            </a:r>
            <a:r>
              <a:rPr b="1"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brand values</a:t>
            </a: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Action: </a:t>
            </a: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Create recurring campaigns around ethical beauty and sustainability themes.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5" name="Google Shape;155;g3b260f267e4_0_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6550" y="1055750"/>
            <a:ext cx="7647451" cy="2173325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g3b260f267e4_0_42"/>
          <p:cNvSpPr txBox="1"/>
          <p:nvPr/>
        </p:nvSpPr>
        <p:spPr>
          <a:xfrm>
            <a:off x="828900" y="336550"/>
            <a:ext cx="74862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rPr>
              <a:t>TASK - 8</a:t>
            </a:r>
            <a:endParaRPr b="1" sz="2200">
              <a:solidFill>
                <a:schemeClr val="dk1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g3b260f267e4_0_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850" y="898400"/>
            <a:ext cx="8839200" cy="4093655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g3b260f267e4_0_48"/>
          <p:cNvSpPr txBox="1"/>
          <p:nvPr/>
        </p:nvSpPr>
        <p:spPr>
          <a:xfrm>
            <a:off x="217850" y="322400"/>
            <a:ext cx="74862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rPr>
              <a:t>TASK - 9</a:t>
            </a:r>
            <a:endParaRPr b="1" sz="2200">
              <a:solidFill>
                <a:schemeClr val="dk1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b260f267e4_0_6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OVERALL INSIGHTS</a:t>
            </a:r>
            <a:endParaRPr/>
          </a:p>
        </p:txBody>
      </p:sp>
      <p:sp>
        <p:nvSpPr>
          <p:cNvPr id="168" name="Google Shape;168;g3b260f267e4_0_61"/>
          <p:cNvSpPr txBox="1"/>
          <p:nvPr>
            <p:ph idx="1" type="body"/>
          </p:nvPr>
        </p:nvSpPr>
        <p:spPr>
          <a:xfrm>
            <a:off x="720000" y="1215749"/>
            <a:ext cx="7704000" cy="314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n-US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Strong overall performance</a:t>
            </a:r>
            <a:r>
              <a:rPr lang="en-US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with ~18.5% engagement, driven mainly by Reels and Stories, showing short-form content works best.</a:t>
            </a:r>
            <a:br>
              <a:rPr lang="en-US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n-US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Weekend posting (Friday–Sunday)</a:t>
            </a:r>
            <a:r>
              <a:rPr lang="en-US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consistently delivers higher engagement, making it ideal for campaigns and launches.</a:t>
            </a:r>
            <a:br>
              <a:rPr lang="en-US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n-US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Ethical beauty hashtags</a:t>
            </a:r>
            <a:r>
              <a:rPr lang="en-US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(Vegan, Cruelty-Free, Makeup) outperform others, indicating strong audience alignment with brand values.</a:t>
            </a:r>
            <a:br>
              <a:rPr lang="en-US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n-US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Engagement drop from Reach to Likes</a:t>
            </a:r>
            <a:r>
              <a:rPr lang="en-US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highlights the need for stronger hooks and clearer call-to-actions.</a:t>
            </a:r>
            <a:br>
              <a:rPr lang="en-US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n-US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Consistent posting and CTA-driven content</a:t>
            </a:r>
            <a:r>
              <a:rPr lang="en-US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(Reels, interactive Stories, UGC campaigns) can improve engagement and follower growth.</a:t>
            </a:r>
            <a:endParaRPr sz="13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ata Collection and Analysis - Master of Science in Community Health and Prevention Research by Slidesgo">
  <a:themeElements>
    <a:clrScheme name="Simple Light">
      <a:dk1>
        <a:srgbClr val="384655"/>
      </a:dk1>
      <a:lt1>
        <a:srgbClr val="FFFFFF"/>
      </a:lt1>
      <a:dk2>
        <a:srgbClr val="AFC7FF"/>
      </a:dk2>
      <a:lt2>
        <a:srgbClr val="9FCBFD"/>
      </a:lt2>
      <a:accent1>
        <a:srgbClr val="68DAF8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8465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Srimathi K</dc:creator>
</cp:coreProperties>
</file>
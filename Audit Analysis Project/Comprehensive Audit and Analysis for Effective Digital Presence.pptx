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6858000" cy="9144000"/>
  <p:embeddedFontLst>
    <p:embeddedFont>
      <p:font typeface="Outfit"/>
      <p:regular r:id="rId17"/>
      <p:bold r:id="rId18"/>
    </p:embeddedFont>
    <p:embeddedFont>
      <p:font typeface="Outfit Medium"/>
      <p:regular r:id="rId19"/>
      <p:bold r:id="rId20"/>
    </p:embeddedFont>
    <p:embeddedFont>
      <p:font typeface="Outfit SemiBold"/>
      <p:regular r:id="rId21"/>
      <p:bold r:id="rId22"/>
    </p:embeddedFont>
    <p:embeddedFont>
      <p:font typeface="DM Sans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7" roundtripDataSignature="AMtx7mjXHDgs88xJYryXilOUjAF9Cws8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utfitMedium-bold.fntdata"/><Relationship Id="rId22" Type="http://schemas.openxmlformats.org/officeDocument/2006/relationships/font" Target="fonts/OutfitSemiBold-bold.fntdata"/><Relationship Id="rId21" Type="http://schemas.openxmlformats.org/officeDocument/2006/relationships/font" Target="fonts/OutfitSemiBold-regular.fntdata"/><Relationship Id="rId24" Type="http://schemas.openxmlformats.org/officeDocument/2006/relationships/font" Target="fonts/DMSans-bold.fntdata"/><Relationship Id="rId23" Type="http://schemas.openxmlformats.org/officeDocument/2006/relationships/font" Target="fonts/DMSans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DMSans-boldItalic.fntdata"/><Relationship Id="rId25" Type="http://schemas.openxmlformats.org/officeDocument/2006/relationships/font" Target="fonts/DMSans-italic.fntdata"/><Relationship Id="rId27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Outfit-regular.fntdata"/><Relationship Id="rId16" Type="http://schemas.openxmlformats.org/officeDocument/2006/relationships/slide" Target="slides/slide12.xml"/><Relationship Id="rId19" Type="http://schemas.openxmlformats.org/officeDocument/2006/relationships/font" Target="fonts/OutfitMedium-regular.fntdata"/><Relationship Id="rId18" Type="http://schemas.openxmlformats.org/officeDocument/2006/relationships/font" Target="fonts/Outfit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b5c19bbf2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g3ab5c19bbf2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cf7365f3dc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g3cf7365f3d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cf7365f3dc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cf7365f3dc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cf7365f3d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cf7365f3d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cf7365f3d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cf7365f3d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cf7365f3dc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cf7365f3dc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f7365f3dc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cf7365f3dc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cf7365f3dc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cf7365f3dc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cf7365f3dc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cf7365f3dc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cf7365f3dc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cf7365f3dc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19"/>
          <p:cNvSpPr txBox="1"/>
          <p:nvPr>
            <p:ph type="ctrTitle"/>
          </p:nvPr>
        </p:nvSpPr>
        <p:spPr>
          <a:xfrm>
            <a:off x="713225" y="1156000"/>
            <a:ext cx="4160700" cy="238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19"/>
          <p:cNvSpPr txBox="1"/>
          <p:nvPr>
            <p:ph idx="1" type="subTitle"/>
          </p:nvPr>
        </p:nvSpPr>
        <p:spPr>
          <a:xfrm>
            <a:off x="713225" y="3541600"/>
            <a:ext cx="41607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/>
          <p:nvPr>
            <p:ph type="title"/>
          </p:nvPr>
        </p:nvSpPr>
        <p:spPr>
          <a:xfrm>
            <a:off x="720000" y="445025"/>
            <a:ext cx="5549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3" name="Google Shape;13;p20"/>
          <p:cNvSpPr txBox="1"/>
          <p:nvPr>
            <p:ph idx="1" type="subTitle"/>
          </p:nvPr>
        </p:nvSpPr>
        <p:spPr>
          <a:xfrm>
            <a:off x="720000" y="1652075"/>
            <a:ext cx="4294800" cy="21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TITLE_AND_BODY_1_1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oogle Shape;15;p21"/>
          <p:cNvGrpSpPr/>
          <p:nvPr/>
        </p:nvGrpSpPr>
        <p:grpSpPr>
          <a:xfrm>
            <a:off x="-535133" y="-37823"/>
            <a:ext cx="10207495" cy="5621696"/>
            <a:chOff x="-535133" y="-37823"/>
            <a:chExt cx="10207495" cy="5621696"/>
          </a:xfrm>
        </p:grpSpPr>
        <p:sp>
          <p:nvSpPr>
            <p:cNvPr id="16" name="Google Shape;16;p21"/>
            <p:cNvSpPr/>
            <p:nvPr/>
          </p:nvSpPr>
          <p:spPr>
            <a:xfrm>
              <a:off x="-125473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21"/>
            <p:cNvSpPr/>
            <p:nvPr/>
          </p:nvSpPr>
          <p:spPr>
            <a:xfrm>
              <a:off x="-535133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3333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21"/>
            <p:cNvSpPr/>
            <p:nvPr/>
          </p:nvSpPr>
          <p:spPr>
            <a:xfrm rot="10800000">
              <a:off x="8833642" y="-378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21"/>
            <p:cNvSpPr/>
            <p:nvPr/>
          </p:nvSpPr>
          <p:spPr>
            <a:xfrm rot="10800000">
              <a:off x="8430777" y="4190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3921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21"/>
            <p:cNvSpPr/>
            <p:nvPr/>
          </p:nvSpPr>
          <p:spPr>
            <a:xfrm flipH="1">
              <a:off x="84239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21"/>
            <p:cNvSpPr/>
            <p:nvPr/>
          </p:nvSpPr>
          <p:spPr>
            <a:xfrm flipH="1">
              <a:off x="88336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0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21"/>
            <p:cNvSpPr/>
            <p:nvPr/>
          </p:nvSpPr>
          <p:spPr>
            <a:xfrm flipH="1" rot="10800000">
              <a:off x="-528348" y="-378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21"/>
            <p:cNvSpPr/>
            <p:nvPr/>
          </p:nvSpPr>
          <p:spPr>
            <a:xfrm flipH="1" rot="10800000">
              <a:off x="-125483" y="4190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0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" name="Google Shape;24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5" name="Google Shape;25;p21"/>
          <p:cNvSpPr txBox="1"/>
          <p:nvPr>
            <p:ph idx="1" type="body"/>
          </p:nvPr>
        </p:nvSpPr>
        <p:spPr>
          <a:xfrm>
            <a:off x="720000" y="1215749"/>
            <a:ext cx="7704000" cy="31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oogle Shape;28;p23"/>
          <p:cNvGrpSpPr/>
          <p:nvPr/>
        </p:nvGrpSpPr>
        <p:grpSpPr>
          <a:xfrm>
            <a:off x="-247298" y="-446215"/>
            <a:ext cx="9638610" cy="6030088"/>
            <a:chOff x="-247298" y="-446215"/>
            <a:chExt cx="9638610" cy="6030088"/>
          </a:xfrm>
        </p:grpSpPr>
        <p:sp>
          <p:nvSpPr>
            <p:cNvPr id="29" name="Google Shape;29;p23"/>
            <p:cNvSpPr/>
            <p:nvPr/>
          </p:nvSpPr>
          <p:spPr>
            <a:xfrm>
              <a:off x="-125573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23"/>
            <p:cNvSpPr/>
            <p:nvPr/>
          </p:nvSpPr>
          <p:spPr>
            <a:xfrm>
              <a:off x="-125583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3921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23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23"/>
            <p:cNvSpPr/>
            <p:nvPr/>
          </p:nvSpPr>
          <p:spPr>
            <a:xfrm flipH="1" rot="10800000">
              <a:off x="346967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3921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23"/>
            <p:cNvSpPr/>
            <p:nvPr/>
          </p:nvSpPr>
          <p:spPr>
            <a:xfrm rot="10800000">
              <a:off x="7958317" y="-4286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23"/>
            <p:cNvSpPr/>
            <p:nvPr/>
          </p:nvSpPr>
          <p:spPr>
            <a:xfrm rot="10800000">
              <a:off x="8552602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0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23"/>
            <p:cNvSpPr/>
            <p:nvPr/>
          </p:nvSpPr>
          <p:spPr>
            <a:xfrm>
              <a:off x="8430777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23"/>
            <p:cNvSpPr/>
            <p:nvPr/>
          </p:nvSpPr>
          <p:spPr>
            <a:xfrm>
              <a:off x="8430767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0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38;p24"/>
          <p:cNvGrpSpPr/>
          <p:nvPr/>
        </p:nvGrpSpPr>
        <p:grpSpPr>
          <a:xfrm>
            <a:off x="-476796" y="2900252"/>
            <a:ext cx="10097585" cy="2865204"/>
            <a:chOff x="-476796" y="2900252"/>
            <a:chExt cx="10097585" cy="2865204"/>
          </a:xfrm>
        </p:grpSpPr>
        <p:grpSp>
          <p:nvGrpSpPr>
            <p:cNvPr id="39" name="Google Shape;39;p24"/>
            <p:cNvGrpSpPr/>
            <p:nvPr/>
          </p:nvGrpSpPr>
          <p:grpSpPr>
            <a:xfrm>
              <a:off x="-476796" y="2900252"/>
              <a:ext cx="10097585" cy="2865204"/>
              <a:chOff x="-476796" y="2900252"/>
              <a:chExt cx="10097585" cy="2865204"/>
            </a:xfrm>
          </p:grpSpPr>
          <p:sp>
            <p:nvSpPr>
              <p:cNvPr id="40" name="Google Shape;40;p24"/>
              <p:cNvSpPr/>
              <p:nvPr/>
            </p:nvSpPr>
            <p:spPr>
              <a:xfrm flipH="1" rot="10800000">
                <a:off x="-266661" y="2900252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" name="Google Shape;41;p24"/>
              <p:cNvSpPr/>
              <p:nvPr/>
            </p:nvSpPr>
            <p:spPr>
              <a:xfrm>
                <a:off x="-90736" y="4425247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dk2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" name="Google Shape;42;p24"/>
              <p:cNvSpPr/>
              <p:nvPr/>
            </p:nvSpPr>
            <p:spPr>
              <a:xfrm>
                <a:off x="-476796" y="3522814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AFC7FF">
                  <a:alpha val="23921"/>
                </a:srgbClr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43;p24"/>
              <p:cNvSpPr/>
              <p:nvPr/>
            </p:nvSpPr>
            <p:spPr>
              <a:xfrm rot="10800000">
                <a:off x="8571944" y="2900252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44;p24"/>
              <p:cNvSpPr/>
              <p:nvPr/>
            </p:nvSpPr>
            <p:spPr>
              <a:xfrm flipH="1">
                <a:off x="8396019" y="4425247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" name="Google Shape;45;p24"/>
              <p:cNvSpPr/>
              <p:nvPr/>
            </p:nvSpPr>
            <p:spPr>
              <a:xfrm flipH="1">
                <a:off x="8782079" y="3522814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9FCBFD">
                  <a:alpha val="40000"/>
                </a:srgbClr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" name="Google Shape;46;p24"/>
              <p:cNvSpPr/>
              <p:nvPr/>
            </p:nvSpPr>
            <p:spPr>
              <a:xfrm rot="10800000">
                <a:off x="8009979" y="4797335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68DAF8">
                  <a:alpha val="33333"/>
                </a:srgbClr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7" name="Google Shape;47;p24"/>
            <p:cNvSpPr/>
            <p:nvPr/>
          </p:nvSpPr>
          <p:spPr>
            <a:xfrm flipH="1" rot="10800000">
              <a:off x="293867" y="47973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3333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b="1" i="0" sz="3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b="0" i="0" sz="3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b="0" i="0" sz="3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b="0" i="0" sz="3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b="0" i="0" sz="3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b="0" i="0" sz="3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b="0" i="0" sz="3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b="0" i="0" sz="3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b="0" i="0" sz="3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dxc.com" TargetMode="External"/><Relationship Id="rId4" Type="http://schemas.openxmlformats.org/officeDocument/2006/relationships/hyperlink" Target="https://dxc.com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lavendersugar21.wixsite.com/dxc-cloud-solutions" TargetMode="Externa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"/>
          <p:cNvSpPr txBox="1"/>
          <p:nvPr>
            <p:ph type="ctrTitle"/>
          </p:nvPr>
        </p:nvSpPr>
        <p:spPr>
          <a:xfrm>
            <a:off x="713225" y="1156000"/>
            <a:ext cx="4160700" cy="238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00000"/>
                </a:solidFill>
              </a:rPr>
              <a:t> Audit and Analysis for Effective Digital Presence</a:t>
            </a:r>
            <a:endParaRPr b="0" sz="3900">
              <a:latin typeface="Outfit SemiBold"/>
              <a:ea typeface="Outfit SemiBold"/>
              <a:cs typeface="Outfit SemiBold"/>
              <a:sym typeface="Outfi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 sz="3300"/>
          </a:p>
        </p:txBody>
      </p:sp>
      <p:sp>
        <p:nvSpPr>
          <p:cNvPr id="53" name="Google Shape;53;p1"/>
          <p:cNvSpPr txBox="1"/>
          <p:nvPr>
            <p:ph idx="1" type="subTitle"/>
          </p:nvPr>
        </p:nvSpPr>
        <p:spPr>
          <a:xfrm>
            <a:off x="713225" y="3541600"/>
            <a:ext cx="41607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BY: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SRIMATHI K</a:t>
            </a:r>
            <a:endParaRPr/>
          </a:p>
        </p:txBody>
      </p:sp>
      <p:cxnSp>
        <p:nvCxnSpPr>
          <p:cNvPr id="54" name="Google Shape;54;p1"/>
          <p:cNvCxnSpPr/>
          <p:nvPr/>
        </p:nvCxnSpPr>
        <p:spPr>
          <a:xfrm>
            <a:off x="823425" y="987213"/>
            <a:ext cx="373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5" name="Google Shape;55;p1"/>
          <p:cNvGrpSpPr/>
          <p:nvPr/>
        </p:nvGrpSpPr>
        <p:grpSpPr>
          <a:xfrm>
            <a:off x="5115337" y="-428624"/>
            <a:ext cx="4275118" cy="6450405"/>
            <a:chOff x="5115337" y="-428624"/>
            <a:chExt cx="4275118" cy="6450405"/>
          </a:xfrm>
        </p:grpSpPr>
        <p:sp>
          <p:nvSpPr>
            <p:cNvPr id="56" name="Google Shape;56;p1"/>
            <p:cNvSpPr/>
            <p:nvPr/>
          </p:nvSpPr>
          <p:spPr>
            <a:xfrm flipH="1" rot="10800000">
              <a:off x="8492525" y="-19272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1"/>
            <p:cNvSpPr/>
            <p:nvPr/>
          </p:nvSpPr>
          <p:spPr>
            <a:xfrm>
              <a:off x="8551745" y="326783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1"/>
            <p:cNvSpPr/>
            <p:nvPr/>
          </p:nvSpPr>
          <p:spPr>
            <a:xfrm>
              <a:off x="6606686" y="254737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1"/>
            <p:cNvSpPr/>
            <p:nvPr/>
          </p:nvSpPr>
          <p:spPr>
            <a:xfrm>
              <a:off x="7103477" y="-1533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1"/>
            <p:cNvSpPr/>
            <p:nvPr/>
          </p:nvSpPr>
          <p:spPr>
            <a:xfrm>
              <a:off x="6684072" y="318466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0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1"/>
            <p:cNvSpPr/>
            <p:nvPr/>
          </p:nvSpPr>
          <p:spPr>
            <a:xfrm>
              <a:off x="6109895" y="1194084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1"/>
            <p:cNvSpPr/>
            <p:nvPr/>
          </p:nvSpPr>
          <p:spPr>
            <a:xfrm>
              <a:off x="6109895" y="697741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3921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1"/>
            <p:cNvSpPr/>
            <p:nvPr/>
          </p:nvSpPr>
          <p:spPr>
            <a:xfrm>
              <a:off x="7587339" y="11940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1"/>
            <p:cNvSpPr/>
            <p:nvPr/>
          </p:nvSpPr>
          <p:spPr>
            <a:xfrm>
              <a:off x="5634170" y="-428624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1"/>
            <p:cNvSpPr/>
            <p:nvPr/>
          </p:nvSpPr>
          <p:spPr>
            <a:xfrm>
              <a:off x="7017892" y="207505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0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1"/>
            <p:cNvSpPr/>
            <p:nvPr/>
          </p:nvSpPr>
          <p:spPr>
            <a:xfrm>
              <a:off x="5193798" y="1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3333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1"/>
            <p:cNvSpPr/>
            <p:nvPr/>
          </p:nvSpPr>
          <p:spPr>
            <a:xfrm>
              <a:off x="8068891" y="16222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3333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1"/>
            <p:cNvSpPr/>
            <p:nvPr/>
          </p:nvSpPr>
          <p:spPr>
            <a:xfrm flipH="1" rot="10800000">
              <a:off x="5115337" y="365597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1"/>
            <p:cNvSpPr/>
            <p:nvPr/>
          </p:nvSpPr>
          <p:spPr>
            <a:xfrm flipH="1" rot="10800000">
              <a:off x="6606680" y="392470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1"/>
            <p:cNvSpPr/>
            <p:nvPr/>
          </p:nvSpPr>
          <p:spPr>
            <a:xfrm flipH="1" rot="10800000">
              <a:off x="5983934" y="505366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1"/>
            <p:cNvSpPr/>
            <p:nvPr/>
          </p:nvSpPr>
          <p:spPr>
            <a:xfrm flipH="1" rot="10800000">
              <a:off x="7178797" y="353334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3921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1"/>
            <p:cNvSpPr/>
            <p:nvPr/>
          </p:nvSpPr>
          <p:spPr>
            <a:xfrm flipH="1" rot="10800000">
              <a:off x="6606686" y="4609409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3921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1"/>
            <p:cNvSpPr/>
            <p:nvPr/>
          </p:nvSpPr>
          <p:spPr>
            <a:xfrm flipH="1" rot="10800000">
              <a:off x="5526543" y="412830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3333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1"/>
            <p:cNvSpPr/>
            <p:nvPr/>
          </p:nvSpPr>
          <p:spPr>
            <a:xfrm>
              <a:off x="8117298" y="285223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0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1"/>
            <p:cNvSpPr/>
            <p:nvPr/>
          </p:nvSpPr>
          <p:spPr>
            <a:xfrm>
              <a:off x="8172542" y="30360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0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"/>
          <p:cNvSpPr txBox="1"/>
          <p:nvPr>
            <p:ph type="title"/>
          </p:nvPr>
        </p:nvSpPr>
        <p:spPr>
          <a:xfrm>
            <a:off x="114299" y="365055"/>
            <a:ext cx="6155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/>
              <a:t>Problem Statement</a:t>
            </a:r>
            <a:br>
              <a:rPr lang="en-US"/>
            </a:br>
            <a:endParaRPr/>
          </a:p>
        </p:txBody>
      </p:sp>
      <p:sp>
        <p:nvSpPr>
          <p:cNvPr id="81" name="Google Shape;81;p2"/>
          <p:cNvSpPr txBox="1"/>
          <p:nvPr>
            <p:ph idx="1" type="subTitle"/>
          </p:nvPr>
        </p:nvSpPr>
        <p:spPr>
          <a:xfrm>
            <a:off x="185504" y="1318014"/>
            <a:ext cx="5443898" cy="289787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utfit"/>
              <a:buChar char="●"/>
            </a:pPr>
            <a:r>
              <a:rPr lang="en-US" sz="12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Analyze the website of a company to evaluate its digital presence.</a:t>
            </a:r>
            <a:endParaRPr sz="120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utfit"/>
              <a:buChar char="●"/>
            </a:pPr>
            <a:r>
              <a:rPr lang="en-US" sz="12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Audit the website based on design, user experience, and SEO performance.</a:t>
            </a:r>
            <a:endParaRPr sz="120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utfit"/>
              <a:buChar char="●"/>
            </a:pPr>
            <a:r>
              <a:rPr lang="en-US" sz="12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Identify areas where the website can be improved for better engagement and visibility.</a:t>
            </a:r>
            <a:endParaRPr sz="120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utfit"/>
              <a:buChar char="●"/>
            </a:pPr>
            <a:r>
              <a:rPr lang="en-US" sz="12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Recommend digital marketing strategies to enhance online performance.</a:t>
            </a:r>
            <a:endParaRPr sz="120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utfit"/>
              <a:buChar char="●"/>
            </a:pPr>
            <a:r>
              <a:rPr lang="en-US" sz="12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Design a sample landing page to improve lead generation and brand awareness.</a:t>
            </a:r>
            <a:endParaRPr sz="1200"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82" name="Google Shape;82;p2"/>
          <p:cNvGrpSpPr/>
          <p:nvPr/>
        </p:nvGrpSpPr>
        <p:grpSpPr>
          <a:xfrm>
            <a:off x="5430930" y="-445784"/>
            <a:ext cx="4086563" cy="6064817"/>
            <a:chOff x="5430930" y="-445784"/>
            <a:chExt cx="4086563" cy="6064817"/>
          </a:xfrm>
        </p:grpSpPr>
        <p:sp>
          <p:nvSpPr>
            <p:cNvPr id="83" name="Google Shape;83;p2"/>
            <p:cNvSpPr/>
            <p:nvPr/>
          </p:nvSpPr>
          <p:spPr>
            <a:xfrm>
              <a:off x="7368520" y="988766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2"/>
            <p:cNvSpPr/>
            <p:nvPr/>
          </p:nvSpPr>
          <p:spPr>
            <a:xfrm flipH="1" rot="10800000">
              <a:off x="6036409" y="19621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7309474" y="21661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6269702" y="-445784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5830483" y="4215884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6269683" y="1332541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3921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8430764" y="23422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7309467" y="261820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3921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7962441" y="1318014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0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2"/>
            <p:cNvSpPr/>
            <p:nvPr/>
          </p:nvSpPr>
          <p:spPr>
            <a:xfrm flipH="1" rot="10800000">
              <a:off x="6351880" y="311086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2"/>
            <p:cNvSpPr/>
            <p:nvPr/>
          </p:nvSpPr>
          <p:spPr>
            <a:xfrm flipH="1" rot="10800000">
              <a:off x="6790284" y="354856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3921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2"/>
            <p:cNvSpPr/>
            <p:nvPr/>
          </p:nvSpPr>
          <p:spPr>
            <a:xfrm flipH="1" rot="10800000">
              <a:off x="5430930" y="465091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0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8678783" y="2668826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8430773" y="223598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0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2"/>
            <p:cNvSpPr/>
            <p:nvPr/>
          </p:nvSpPr>
          <p:spPr>
            <a:xfrm flipH="1" rot="10800000">
              <a:off x="8119787" y="363695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2"/>
            <p:cNvSpPr/>
            <p:nvPr/>
          </p:nvSpPr>
          <p:spPr>
            <a:xfrm flipH="1" rot="10800000">
              <a:off x="7697255" y="411247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3333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6628072" y="112491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3333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2"/>
            <p:cNvSpPr/>
            <p:nvPr/>
          </p:nvSpPr>
          <p:spPr>
            <a:xfrm flipH="1" rot="10800000">
              <a:off x="7825159" y="-25148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0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b5c19bbf2_0_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/>
              <a:t>Company Overview</a:t>
            </a:r>
            <a:endParaRPr/>
          </a:p>
        </p:txBody>
      </p:sp>
      <p:sp>
        <p:nvSpPr>
          <p:cNvPr id="106" name="Google Shape;106;g3ab5c19bbf2_0_25"/>
          <p:cNvSpPr txBox="1"/>
          <p:nvPr>
            <p:ph idx="1" type="body"/>
          </p:nvPr>
        </p:nvSpPr>
        <p:spPr>
          <a:xfrm>
            <a:off x="720000" y="1215750"/>
            <a:ext cx="7927500" cy="31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DXC Technology</a:t>
            </a:r>
            <a:endParaRPr b="1" sz="230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About the Company</a:t>
            </a:r>
            <a:endParaRPr b="1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Char char="●"/>
            </a:pPr>
            <a:r>
              <a:rPr lang="en-US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Global IT services and consulting company providing technology-driven business solutions.</a:t>
            </a:r>
            <a:endParaRPr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US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Founded in </a:t>
            </a:r>
            <a:r>
              <a:rPr b="1" lang="en-US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2017</a:t>
            </a:r>
            <a:r>
              <a:rPr lang="en-US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through the merger of Computer Sciences Corporation (CSC) and Hewlett Packard Enterprise’s Enterprise Services division.</a:t>
            </a:r>
            <a:endParaRPr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US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Headquarters located in </a:t>
            </a:r>
            <a:r>
              <a:rPr b="1" lang="en-US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Ashburn, Virginia, United States</a:t>
            </a:r>
            <a:r>
              <a:rPr lang="en-US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</a:t>
            </a:r>
            <a:endParaRPr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US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Operates in </a:t>
            </a:r>
            <a:r>
              <a:rPr b="1" lang="en-US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70+ countries</a:t>
            </a:r>
            <a:r>
              <a:rPr lang="en-US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and serves enterprise and public sector clients worldwide.</a:t>
            </a:r>
            <a:endParaRPr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-US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Workforce of </a:t>
            </a:r>
            <a:r>
              <a:rPr b="1" lang="en-US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over 120,000 professionals</a:t>
            </a:r>
            <a:r>
              <a:rPr lang="en-US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delivering IT and digital transformation services</a:t>
            </a:r>
            <a:r>
              <a:rPr lang="en-US" sz="12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</a:t>
            </a:r>
            <a:endParaRPr sz="1500"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cf7365f3dc_0_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/>
              <a:t>Company Overview</a:t>
            </a:r>
            <a:endParaRPr/>
          </a:p>
        </p:txBody>
      </p:sp>
      <p:sp>
        <p:nvSpPr>
          <p:cNvPr id="112" name="Google Shape;112;g3cf7365f3dc_0_7"/>
          <p:cNvSpPr txBox="1"/>
          <p:nvPr>
            <p:ph idx="1" type="body"/>
          </p:nvPr>
        </p:nvSpPr>
        <p:spPr>
          <a:xfrm>
            <a:off x="720000" y="1215750"/>
            <a:ext cx="7927500" cy="31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Core Services</a:t>
            </a:r>
            <a:endParaRPr b="1" sz="130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Outfit"/>
              <a:buChar char="●"/>
            </a:pPr>
            <a:r>
              <a:rPr lang="en-US" sz="13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Cloud computing and cloud transformation solutions</a:t>
            </a:r>
            <a:endParaRPr sz="130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Outfit"/>
              <a:buChar char="●"/>
            </a:pPr>
            <a:r>
              <a:rPr lang="en-US" sz="13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Cybersecurity services</a:t>
            </a:r>
            <a:endParaRPr sz="130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Outfit"/>
              <a:buChar char="●"/>
            </a:pPr>
            <a:r>
              <a:rPr lang="en-US" sz="13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Data analytics and artificial intelligence solutions</a:t>
            </a:r>
            <a:endParaRPr sz="130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Outfit"/>
              <a:buChar char="●"/>
            </a:pPr>
            <a:r>
              <a:rPr lang="en-US" sz="13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IT outsourcing and infrastructure management</a:t>
            </a:r>
            <a:endParaRPr sz="130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Outfit"/>
              <a:buChar char="●"/>
            </a:pPr>
            <a:r>
              <a:rPr lang="en-US" sz="13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Application modernization and digital engineering</a:t>
            </a:r>
            <a:endParaRPr sz="130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Digital Presence</a:t>
            </a:r>
            <a:endParaRPr b="1" sz="130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-US" sz="13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Official website:</a:t>
            </a:r>
            <a:r>
              <a:rPr lang="en-US" sz="1300">
                <a:solidFill>
                  <a:srgbClr val="000000"/>
                </a:solidFill>
                <a:uFill>
                  <a:noFill/>
                </a:uFill>
                <a:latin typeface="Outfit"/>
                <a:ea typeface="Outfit"/>
                <a:cs typeface="Outfit"/>
                <a:sym typeface="Outfi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lang="en-US" sz="1300" u="sng">
                <a:latin typeface="Outfit"/>
                <a:ea typeface="Outfit"/>
                <a:cs typeface="Outfit"/>
                <a:sym typeface="Outfit"/>
                <a:hlinkClick r:id="rId4"/>
              </a:rPr>
              <a:t>https://dxc.com</a:t>
            </a:r>
            <a:endParaRPr b="1" sz="1300" u="sng">
              <a:latin typeface="Outfit"/>
              <a:ea typeface="Outfit"/>
              <a:cs typeface="Outfit"/>
              <a:sym typeface="Outfi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Outfit"/>
              <a:buChar char="●"/>
            </a:pPr>
            <a:r>
              <a:rPr lang="en-US" sz="13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The website showcases services, industry solutions, case studies, and insights.</a:t>
            </a:r>
            <a:endParaRPr sz="130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Outfit"/>
              <a:buChar char="●"/>
            </a:pPr>
            <a:r>
              <a:rPr lang="en-US" sz="13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Serves as the company’s primary platform for communicating its technology capabilities and engaging with global clients.</a:t>
            </a:r>
            <a:endParaRPr b="1" sz="250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cf7365f3dc_0_12"/>
          <p:cNvSpPr txBox="1"/>
          <p:nvPr>
            <p:ph type="title"/>
          </p:nvPr>
        </p:nvSpPr>
        <p:spPr>
          <a:xfrm>
            <a:off x="405125" y="330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</a:rPr>
              <a:t> SEO Metadata Analysis</a:t>
            </a:r>
            <a:endParaRPr b="0" sz="20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18" name="Google Shape;118;g3cf7365f3dc_0_12"/>
          <p:cNvSpPr txBox="1"/>
          <p:nvPr>
            <p:ph idx="1" type="body"/>
          </p:nvPr>
        </p:nvSpPr>
        <p:spPr>
          <a:xfrm>
            <a:off x="4400825" y="1068725"/>
            <a:ext cx="3966000" cy="31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Tool Used:</a:t>
            </a:r>
            <a:r>
              <a:rPr lang="en-US" sz="11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SEO Meta in 1 Click</a:t>
            </a:r>
            <a:endParaRPr sz="110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Page Title</a:t>
            </a:r>
            <a:endParaRPr b="1" sz="110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Outfit"/>
              <a:buChar char="●"/>
            </a:pPr>
            <a:r>
              <a:rPr lang="en-US" sz="11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Indicates the main topic of the webpage and appears in search engine results.</a:t>
            </a:r>
            <a:endParaRPr i="1" sz="110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US" sz="11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The title length is </a:t>
            </a:r>
            <a:r>
              <a:rPr b="1" lang="en-US" sz="11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84 characters</a:t>
            </a:r>
            <a:r>
              <a:rPr lang="en-US" sz="11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, which is slightly longer than the recommended SEO range.</a:t>
            </a:r>
            <a:endParaRPr sz="110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Meta Description</a:t>
            </a:r>
            <a:endParaRPr b="1" sz="110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Outfit"/>
              <a:buChar char="●"/>
            </a:pPr>
            <a:r>
              <a:rPr lang="en-US" sz="11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 short summary of the webpage displayed in search results.</a:t>
            </a:r>
            <a:br>
              <a:rPr lang="en-US" sz="11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</a:br>
            <a:endParaRPr sz="110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US" sz="11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The DXC website includes a </a:t>
            </a:r>
            <a:r>
              <a:rPr b="1" lang="en-US" sz="11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162-character meta description</a:t>
            </a:r>
            <a:r>
              <a:rPr lang="en-US" sz="11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clearly describing the company’s services.</a:t>
            </a:r>
            <a:endParaRPr sz="110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119" name="Google Shape;119;g3cf7365f3dc_0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3275" y="1068725"/>
            <a:ext cx="3934001" cy="3292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f7365f3dc_0_2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en-US" sz="2000">
                <a:solidFill>
                  <a:srgbClr val="000000"/>
                </a:solidFill>
              </a:rPr>
              <a:t> SEO Metadata Analysis</a:t>
            </a:r>
            <a:endParaRPr sz="3800"/>
          </a:p>
        </p:txBody>
      </p:sp>
      <p:sp>
        <p:nvSpPr>
          <p:cNvPr id="125" name="Google Shape;125;g3cf7365f3dc_0_26"/>
          <p:cNvSpPr txBox="1"/>
          <p:nvPr>
            <p:ph idx="1" type="body"/>
          </p:nvPr>
        </p:nvSpPr>
        <p:spPr>
          <a:xfrm>
            <a:off x="720000" y="1215749"/>
            <a:ext cx="7704000" cy="31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Heading Structure (H1, H2, H3)</a:t>
            </a:r>
            <a:endParaRPr b="1" sz="110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Outfit"/>
              <a:buChar char="●"/>
            </a:pPr>
            <a:r>
              <a:rPr lang="en-US" sz="11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Headings organize web page content and help both users and search engines understand page structure.</a:t>
            </a:r>
            <a:br>
              <a:rPr lang="en-US" sz="11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</a:br>
            <a:endParaRPr sz="110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US" sz="11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The website uses multiple headings (</a:t>
            </a:r>
            <a:r>
              <a:rPr b="1" lang="en-US" sz="11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H1, H2, H3</a:t>
            </a:r>
            <a:r>
              <a:rPr lang="en-US" sz="11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), indicating a structured content hierarchy.</a:t>
            </a:r>
            <a:endParaRPr sz="110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Images</a:t>
            </a:r>
            <a:endParaRPr b="1" sz="110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Outfit"/>
              <a:buChar char="●"/>
            </a:pPr>
            <a:r>
              <a:rPr lang="en-US" sz="11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Images improve visual engagement and user experience.</a:t>
            </a:r>
            <a:br>
              <a:rPr lang="en-US" sz="11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</a:br>
            <a:endParaRPr sz="110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US" sz="11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The webpage contains </a:t>
            </a:r>
            <a:r>
              <a:rPr b="1" lang="en-US" sz="11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47 images</a:t>
            </a:r>
            <a:r>
              <a:rPr lang="en-US" sz="11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, which enhance presentation but should include optimized ALT text for SEO.</a:t>
            </a:r>
            <a:endParaRPr sz="110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Internal Links</a:t>
            </a:r>
            <a:endParaRPr b="1" sz="110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Outfit"/>
              <a:buChar char="●"/>
            </a:pPr>
            <a:r>
              <a:rPr lang="en-US" sz="11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Internal links connect pages within the website and help search engines crawl the site.</a:t>
            </a:r>
            <a:br>
              <a:rPr lang="en-US" sz="11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</a:br>
            <a:endParaRPr sz="110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US" sz="11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The DXC homepage contains </a:t>
            </a:r>
            <a:r>
              <a:rPr b="1" lang="en-US" sz="11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151 links</a:t>
            </a:r>
            <a:r>
              <a:rPr lang="en-US" sz="11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, supporting navigation and content accessibility.</a:t>
            </a:r>
            <a:endParaRPr sz="110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cf7365f3dc_0_3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Page Speed Audit</a:t>
            </a:r>
            <a:endParaRPr sz="2500"/>
          </a:p>
        </p:txBody>
      </p:sp>
      <p:pic>
        <p:nvPicPr>
          <p:cNvPr id="131" name="Google Shape;131;g3cf7365f3dc_0_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7675" y="1501550"/>
            <a:ext cx="4780877" cy="259559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g3cf7365f3dc_0_31"/>
          <p:cNvSpPr txBox="1"/>
          <p:nvPr/>
        </p:nvSpPr>
        <p:spPr>
          <a:xfrm>
            <a:off x="106600" y="1250125"/>
            <a:ext cx="4246500" cy="3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 u="sng">
                <a:solidFill>
                  <a:srgbClr val="CC0000"/>
                </a:solidFill>
                <a:latin typeface="Outfit"/>
                <a:ea typeface="Outfit"/>
                <a:cs typeface="Outfit"/>
                <a:sym typeface="Outfit"/>
              </a:rPr>
              <a:t>Overall Scores</a:t>
            </a:r>
            <a:endParaRPr b="1" sz="1300" u="sng">
              <a:solidFill>
                <a:srgbClr val="CC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latin typeface="Outfit"/>
                <a:ea typeface="Outfit"/>
                <a:cs typeface="Outfit"/>
                <a:sym typeface="Outfit"/>
              </a:rPr>
              <a:t>Performance: 49</a:t>
            </a:r>
            <a:r>
              <a:rPr lang="en-US" sz="1100">
                <a:latin typeface="Outfit"/>
                <a:ea typeface="Outfit"/>
                <a:cs typeface="Outfit"/>
                <a:sym typeface="Outfit"/>
              </a:rPr>
              <a:t> – Page loading speed is relatively slow.</a:t>
            </a:r>
            <a:br>
              <a:rPr lang="en-US" sz="1100">
                <a:latin typeface="Outfit"/>
                <a:ea typeface="Outfit"/>
                <a:cs typeface="Outfit"/>
                <a:sym typeface="Outfit"/>
              </a:rPr>
            </a:br>
            <a:r>
              <a:rPr b="1" lang="en-US" sz="1100">
                <a:latin typeface="Outfit"/>
                <a:ea typeface="Outfit"/>
                <a:cs typeface="Outfit"/>
                <a:sym typeface="Outfit"/>
              </a:rPr>
              <a:t>Accessibility: 79</a:t>
            </a:r>
            <a:r>
              <a:rPr lang="en-US" sz="1100">
                <a:latin typeface="Outfit"/>
                <a:ea typeface="Outfit"/>
                <a:cs typeface="Outfit"/>
                <a:sym typeface="Outfit"/>
              </a:rPr>
              <a:t> – Mostly accessible but some usability improvements needed.</a:t>
            </a:r>
            <a:br>
              <a:rPr lang="en-US" sz="1100">
                <a:latin typeface="Outfit"/>
                <a:ea typeface="Outfit"/>
                <a:cs typeface="Outfit"/>
                <a:sym typeface="Outfit"/>
              </a:rPr>
            </a:br>
            <a:r>
              <a:rPr b="1" lang="en-US" sz="1100">
                <a:latin typeface="Outfit"/>
                <a:ea typeface="Outfit"/>
                <a:cs typeface="Outfit"/>
                <a:sym typeface="Outfit"/>
              </a:rPr>
              <a:t>Best Practices: 73</a:t>
            </a:r>
            <a:r>
              <a:rPr lang="en-US" sz="1100">
                <a:latin typeface="Outfit"/>
                <a:ea typeface="Outfit"/>
                <a:cs typeface="Outfit"/>
                <a:sym typeface="Outfit"/>
              </a:rPr>
              <a:t> – Some technical optimizations recommended.</a:t>
            </a:r>
            <a:br>
              <a:rPr lang="en-US" sz="1100">
                <a:latin typeface="Outfit"/>
                <a:ea typeface="Outfit"/>
                <a:cs typeface="Outfit"/>
                <a:sym typeface="Outfit"/>
              </a:rPr>
            </a:br>
            <a:r>
              <a:rPr b="1" lang="en-US" sz="1100">
                <a:latin typeface="Outfit"/>
                <a:ea typeface="Outfit"/>
                <a:cs typeface="Outfit"/>
                <a:sym typeface="Outfit"/>
              </a:rPr>
              <a:t>SEO: 77</a:t>
            </a:r>
            <a:r>
              <a:rPr lang="en-US" sz="1100">
                <a:latin typeface="Outfit"/>
                <a:ea typeface="Outfit"/>
                <a:cs typeface="Outfit"/>
                <a:sym typeface="Outfit"/>
              </a:rPr>
              <a:t> – Good SEO structure with room for improvement.</a:t>
            </a:r>
            <a:br>
              <a:rPr lang="en-US" sz="1100">
                <a:latin typeface="Outfit"/>
                <a:ea typeface="Outfit"/>
                <a:cs typeface="Outfit"/>
                <a:sym typeface="Outfit"/>
              </a:rPr>
            </a:br>
            <a:endParaRPr sz="1100"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300" u="sng">
                <a:solidFill>
                  <a:srgbClr val="CC4125"/>
                </a:solidFill>
                <a:latin typeface="Outfit"/>
                <a:ea typeface="Outfit"/>
                <a:cs typeface="Outfit"/>
                <a:sym typeface="Outfit"/>
              </a:rPr>
              <a:t>Core Web Vitals</a:t>
            </a:r>
            <a:endParaRPr b="1" sz="1300" u="sng">
              <a:solidFill>
                <a:srgbClr val="CC4125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latin typeface="Outfit"/>
                <a:ea typeface="Outfit"/>
                <a:cs typeface="Outfit"/>
                <a:sym typeface="Outfit"/>
              </a:rPr>
              <a:t>LCP: 4.1s</a:t>
            </a:r>
            <a:r>
              <a:rPr lang="en-US" sz="1100">
                <a:latin typeface="Outfit"/>
                <a:ea typeface="Outfit"/>
                <a:cs typeface="Outfit"/>
                <a:sym typeface="Outfit"/>
              </a:rPr>
              <a:t> – Main content loads slower than recommended.</a:t>
            </a:r>
            <a:br>
              <a:rPr lang="en-US" sz="1100">
                <a:latin typeface="Outfit"/>
                <a:ea typeface="Outfit"/>
                <a:cs typeface="Outfit"/>
                <a:sym typeface="Outfit"/>
              </a:rPr>
            </a:br>
            <a:r>
              <a:rPr b="1" lang="en-US" sz="1100">
                <a:latin typeface="Outfit"/>
                <a:ea typeface="Outfit"/>
                <a:cs typeface="Outfit"/>
                <a:sym typeface="Outfit"/>
              </a:rPr>
              <a:t>INP: 64 ms</a:t>
            </a:r>
            <a:r>
              <a:rPr lang="en-US" sz="1100">
                <a:latin typeface="Outfit"/>
                <a:ea typeface="Outfit"/>
                <a:cs typeface="Outfit"/>
                <a:sym typeface="Outfit"/>
              </a:rPr>
              <a:t> – Good responsiveness to user interactions.</a:t>
            </a:r>
            <a:br>
              <a:rPr lang="en-US" sz="1100">
                <a:latin typeface="Outfit"/>
                <a:ea typeface="Outfit"/>
                <a:cs typeface="Outfit"/>
                <a:sym typeface="Outfit"/>
              </a:rPr>
            </a:br>
            <a:r>
              <a:rPr b="1" lang="en-US" sz="1100">
                <a:latin typeface="Outfit"/>
                <a:ea typeface="Outfit"/>
                <a:cs typeface="Outfit"/>
                <a:sym typeface="Outfit"/>
              </a:rPr>
              <a:t>CLS: 0.06</a:t>
            </a:r>
            <a:r>
              <a:rPr lang="en-US" sz="1100">
                <a:latin typeface="Outfit"/>
                <a:ea typeface="Outfit"/>
                <a:cs typeface="Outfit"/>
                <a:sym typeface="Outfit"/>
              </a:rPr>
              <a:t> – Stable layout with minimal visual shifts.</a:t>
            </a:r>
            <a:endParaRPr sz="1100"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133" name="Google Shape;133;g3cf7365f3dc_0_31"/>
          <p:cNvPicPr preferRelativeResize="0"/>
          <p:nvPr/>
        </p:nvPicPr>
        <p:blipFill rotWithShape="1">
          <a:blip r:embed="rId4">
            <a:alphaModFix/>
          </a:blip>
          <a:srcRect b="85098" l="0" r="0" t="0"/>
          <a:stretch/>
        </p:blipFill>
        <p:spPr>
          <a:xfrm>
            <a:off x="4000025" y="857325"/>
            <a:ext cx="5086250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cf7365f3dc_0_38"/>
          <p:cNvSpPr txBox="1"/>
          <p:nvPr>
            <p:ph type="title"/>
          </p:nvPr>
        </p:nvSpPr>
        <p:spPr>
          <a:xfrm>
            <a:off x="662725" y="17785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000000"/>
                </a:solidFill>
              </a:rPr>
              <a:t>Page Speed Audit</a:t>
            </a:r>
            <a:endParaRPr sz="25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cf7365f3dc_0_38"/>
          <p:cNvSpPr txBox="1"/>
          <p:nvPr>
            <p:ph idx="1" type="body"/>
          </p:nvPr>
        </p:nvSpPr>
        <p:spPr>
          <a:xfrm>
            <a:off x="268825" y="999150"/>
            <a:ext cx="4036500" cy="31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100" u="sng">
                <a:solidFill>
                  <a:srgbClr val="CC4125"/>
                </a:solidFill>
                <a:latin typeface="Outfit"/>
                <a:ea typeface="Outfit"/>
                <a:cs typeface="Outfit"/>
                <a:sym typeface="Outfit"/>
              </a:rPr>
              <a:t>Additional Metrics</a:t>
            </a:r>
            <a:endParaRPr b="1" sz="1100" u="sng">
              <a:solidFill>
                <a:srgbClr val="CC4125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-US" sz="11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FCP: 3.3s</a:t>
            </a:r>
            <a:r>
              <a:rPr lang="en-US" sz="11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– First visual content appears slightly slowly.</a:t>
            </a:r>
            <a:endParaRPr sz="110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-US" sz="11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TTFB: 1.1s</a:t>
            </a:r>
            <a:r>
              <a:rPr lang="en-US" sz="11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– Moderate server response time.</a:t>
            </a:r>
            <a:endParaRPr sz="110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-US" sz="11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Speed Index: 4.8s</a:t>
            </a:r>
            <a:r>
              <a:rPr lang="en-US" sz="11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– Overall page content loads moderately slow.</a:t>
            </a:r>
            <a:endParaRPr sz="110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100" u="sng">
                <a:solidFill>
                  <a:srgbClr val="CC4125"/>
                </a:solidFill>
                <a:latin typeface="Outfit"/>
                <a:ea typeface="Outfit"/>
                <a:cs typeface="Outfit"/>
                <a:sym typeface="Outfit"/>
              </a:rPr>
              <a:t>Key Insights</a:t>
            </a:r>
            <a:endParaRPr b="1" sz="1100" u="sng">
              <a:solidFill>
                <a:srgbClr val="CC4125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Outfit"/>
              <a:buChar char="-"/>
            </a:pPr>
            <a:r>
              <a:rPr lang="en-US" sz="11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The website has </a:t>
            </a:r>
            <a:r>
              <a:rPr b="1" lang="en-US" sz="11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good interaction responsiveness and layout stability</a:t>
            </a:r>
            <a:r>
              <a:rPr lang="en-US" sz="11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</a:t>
            </a:r>
            <a:endParaRPr sz="110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Outfit"/>
              <a:buChar char="-"/>
            </a:pPr>
            <a:r>
              <a:rPr lang="en-US" sz="11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However, </a:t>
            </a:r>
            <a:r>
              <a:rPr b="1" lang="en-US" sz="11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page loading speed is relatively slow</a:t>
            </a:r>
            <a:r>
              <a:rPr lang="en-US" sz="11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, affecting overall performance score.</a:t>
            </a:r>
            <a:endParaRPr sz="110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Outfit"/>
              <a:buChar char="-"/>
            </a:pPr>
            <a:r>
              <a:rPr lang="en-US" sz="11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Performance could improve through </a:t>
            </a:r>
            <a:r>
              <a:rPr b="1" lang="en-US" sz="11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image optimization, script reduction, and better resource loading strategies</a:t>
            </a:r>
            <a:r>
              <a:rPr lang="en-US" sz="11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</a:t>
            </a:r>
            <a:endParaRPr sz="110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140" name="Google Shape;140;g3cf7365f3dc_0_38"/>
          <p:cNvPicPr preferRelativeResize="0"/>
          <p:nvPr/>
        </p:nvPicPr>
        <p:blipFill rotWithShape="1">
          <a:blip r:embed="rId3">
            <a:alphaModFix/>
          </a:blip>
          <a:srcRect b="0" l="0" r="0" t="14281"/>
          <a:stretch/>
        </p:blipFill>
        <p:spPr>
          <a:xfrm>
            <a:off x="4432050" y="999150"/>
            <a:ext cx="4590774" cy="329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cf7365f3dc_0_52"/>
          <p:cNvSpPr txBox="1"/>
          <p:nvPr>
            <p:ph type="title"/>
          </p:nvPr>
        </p:nvSpPr>
        <p:spPr>
          <a:xfrm>
            <a:off x="720000" y="3114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en-US" sz="2400">
                <a:solidFill>
                  <a:srgbClr val="000000"/>
                </a:solidFill>
              </a:rPr>
              <a:t>Mobile Responsiveness Analysis</a:t>
            </a:r>
            <a:endParaRPr sz="2400"/>
          </a:p>
        </p:txBody>
      </p:sp>
      <p:sp>
        <p:nvSpPr>
          <p:cNvPr id="146" name="Google Shape;146;g3cf7365f3dc_0_52"/>
          <p:cNvSpPr txBox="1"/>
          <p:nvPr>
            <p:ph idx="1" type="body"/>
          </p:nvPr>
        </p:nvSpPr>
        <p:spPr>
          <a:xfrm>
            <a:off x="720000" y="1158500"/>
            <a:ext cx="5303100" cy="31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Tool Used:</a:t>
            </a:r>
            <a:r>
              <a:rPr lang="en-US" sz="12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Responsive Design Checker</a:t>
            </a:r>
            <a:endParaRPr sz="120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-US" sz="12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Website layout adapts effectively to </a:t>
            </a:r>
            <a:r>
              <a:rPr b="1" lang="en-US" sz="12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mobile screen sizes</a:t>
            </a:r>
            <a:r>
              <a:rPr lang="en-US" sz="12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</a:t>
            </a:r>
            <a:endParaRPr sz="120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utfit"/>
              <a:buChar char="●"/>
            </a:pPr>
            <a:r>
              <a:rPr lang="en-US" sz="12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Content sections stack vertically, improving readability on smaller devices.</a:t>
            </a:r>
            <a:endParaRPr sz="120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utfit"/>
              <a:buChar char="●"/>
            </a:pPr>
            <a:r>
              <a:rPr lang="en-US" sz="12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Images and banners resize properly without breaking the layout.</a:t>
            </a:r>
            <a:endParaRPr sz="120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utfit"/>
              <a:buChar char="●"/>
            </a:pPr>
            <a:r>
              <a:rPr lang="en-US" sz="12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Navigation menu is simplified for easier mobile interaction.</a:t>
            </a:r>
            <a:endParaRPr sz="120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Observation</a:t>
            </a:r>
            <a:endParaRPr b="1" sz="120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-US" sz="12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The website provides a </a:t>
            </a:r>
            <a:r>
              <a:rPr b="1" lang="en-US" sz="12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mobile-friendly design</a:t>
            </a:r>
            <a:r>
              <a:rPr lang="en-US" sz="12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, ensuring a smooth browsing experience across different devices.</a:t>
            </a:r>
            <a:endParaRPr sz="120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147" name="Google Shape;147;g3cf7365f3dc_0_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40250" y="884125"/>
            <a:ext cx="1586375" cy="401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cf7365f3dc_0_5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</a:rPr>
              <a:t>SEO Audit Analysis</a:t>
            </a:r>
            <a:endParaRPr sz="2400"/>
          </a:p>
        </p:txBody>
      </p:sp>
      <p:sp>
        <p:nvSpPr>
          <p:cNvPr id="153" name="Google Shape;153;g3cf7365f3dc_0_59"/>
          <p:cNvSpPr txBox="1"/>
          <p:nvPr>
            <p:ph idx="1" type="body"/>
          </p:nvPr>
        </p:nvSpPr>
        <p:spPr>
          <a:xfrm>
            <a:off x="328750" y="1215700"/>
            <a:ext cx="5236200" cy="189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Key Issues Identified (</a:t>
            </a:r>
            <a:r>
              <a:rPr b="1"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 Used:</a:t>
            </a: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RankMath SEO Analyzer)</a:t>
            </a:r>
            <a:endParaRPr b="1" sz="110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Outfit"/>
              <a:buChar char="-"/>
            </a:pPr>
            <a:r>
              <a:rPr b="1" lang="en-US" sz="11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Multiple H1 tags</a:t>
            </a:r>
            <a:r>
              <a:rPr lang="en-US" sz="11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detected on the page (recommended: one H1 per page).</a:t>
            </a:r>
            <a:endParaRPr sz="110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Outfit"/>
              <a:buChar char="-"/>
            </a:pPr>
            <a:r>
              <a:rPr lang="en-US" sz="11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Some images </a:t>
            </a:r>
            <a:r>
              <a:rPr b="1" lang="en-US" sz="11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lack ALT attributes</a:t>
            </a:r>
            <a:r>
              <a:rPr lang="en-US" sz="11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, affecting accessibility and image SEO.</a:t>
            </a:r>
            <a:endParaRPr sz="110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Outfit"/>
              <a:buChar char="-"/>
            </a:pPr>
            <a:r>
              <a:rPr b="1" lang="en-US" sz="11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Title length exceeds recommended SEO limit</a:t>
            </a:r>
            <a:r>
              <a:rPr lang="en-US" sz="11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, which may get truncated in search results.</a:t>
            </a:r>
            <a:endParaRPr sz="110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Outfit"/>
              <a:buChar char="-"/>
            </a:pPr>
            <a:r>
              <a:rPr b="1" lang="en-US" sz="11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Schema structured data not detected</a:t>
            </a:r>
            <a:r>
              <a:rPr lang="en-US" sz="11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, limiting enhanced search results.</a:t>
            </a:r>
            <a:endParaRPr sz="110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Outfit"/>
              <a:buChar char="-"/>
            </a:pPr>
            <a:r>
              <a:rPr b="1" lang="en-US" sz="11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Some JavaScript files not fully optimized</a:t>
            </a:r>
            <a:r>
              <a:rPr lang="en-US" sz="11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, which may affect performance.</a:t>
            </a:r>
            <a:endParaRPr sz="110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154" name="Google Shape;154;g3cf7365f3dc_0_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300" y="3156100"/>
            <a:ext cx="5057649" cy="160905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g3cf7365f3dc_0_59"/>
          <p:cNvSpPr txBox="1"/>
          <p:nvPr/>
        </p:nvSpPr>
        <p:spPr>
          <a:xfrm>
            <a:off x="5717700" y="1469575"/>
            <a:ext cx="3244500" cy="30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latin typeface="Outfit"/>
                <a:ea typeface="Outfit"/>
                <a:cs typeface="Outfit"/>
                <a:sym typeface="Outfit"/>
              </a:rPr>
              <a:t>Observation:</a:t>
            </a:r>
            <a:endParaRPr b="1" sz="1100"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Outfit"/>
                <a:ea typeface="Outfit"/>
                <a:cs typeface="Outfit"/>
                <a:sym typeface="Outfit"/>
              </a:rPr>
              <a:t>The website demonstrates a </a:t>
            </a:r>
            <a:r>
              <a:rPr b="1" lang="en-US" sz="1100">
                <a:latin typeface="Outfit"/>
                <a:ea typeface="Outfit"/>
                <a:cs typeface="Outfit"/>
                <a:sym typeface="Outfit"/>
              </a:rPr>
              <a:t>strong SEO foundation</a:t>
            </a:r>
            <a:r>
              <a:rPr lang="en-US" sz="1100">
                <a:latin typeface="Outfit"/>
                <a:ea typeface="Outfit"/>
                <a:cs typeface="Outfit"/>
                <a:sym typeface="Outfit"/>
              </a:rPr>
              <a:t>, supported by a good SEO score and proper technical setup.</a:t>
            </a:r>
            <a:br>
              <a:rPr lang="en-US" sz="1100">
                <a:latin typeface="Outfit"/>
                <a:ea typeface="Outfit"/>
                <a:cs typeface="Outfit"/>
                <a:sym typeface="Outfit"/>
              </a:rPr>
            </a:br>
            <a:endParaRPr sz="1100"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Outfit"/>
                <a:ea typeface="Outfit"/>
                <a:cs typeface="Outfit"/>
                <a:sym typeface="Outfit"/>
              </a:rPr>
              <a:t>The presence of </a:t>
            </a:r>
            <a:r>
              <a:rPr b="1" lang="en-US" sz="1100">
                <a:latin typeface="Outfit"/>
                <a:ea typeface="Outfit"/>
                <a:cs typeface="Outfit"/>
                <a:sym typeface="Outfit"/>
              </a:rPr>
              <a:t>HTTPS, sitemap, and robots.txt</a:t>
            </a:r>
            <a:r>
              <a:rPr lang="en-US" sz="1100">
                <a:latin typeface="Outfit"/>
                <a:ea typeface="Outfit"/>
                <a:cs typeface="Outfit"/>
                <a:sym typeface="Outfit"/>
              </a:rPr>
              <a:t> helps improve security and search engine indexing.</a:t>
            </a:r>
            <a:br>
              <a:rPr lang="en-US" sz="1100">
                <a:latin typeface="Outfit"/>
                <a:ea typeface="Outfit"/>
                <a:cs typeface="Outfit"/>
                <a:sym typeface="Outfit"/>
              </a:rPr>
            </a:br>
            <a:endParaRPr sz="1100"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Outfit"/>
                <a:ea typeface="Outfit"/>
                <a:cs typeface="Outfit"/>
                <a:sym typeface="Outfit"/>
              </a:rPr>
              <a:t>Regularly updated content supports </a:t>
            </a:r>
            <a:r>
              <a:rPr b="1" lang="en-US" sz="1100">
                <a:latin typeface="Outfit"/>
                <a:ea typeface="Outfit"/>
                <a:cs typeface="Outfit"/>
                <a:sym typeface="Outfit"/>
              </a:rPr>
              <a:t>better search relevance and ranking</a:t>
            </a:r>
            <a:r>
              <a:rPr lang="en-US" sz="1100">
                <a:latin typeface="Outfit"/>
                <a:ea typeface="Outfit"/>
                <a:cs typeface="Outfit"/>
                <a:sym typeface="Outfit"/>
              </a:rPr>
              <a:t>.</a:t>
            </a:r>
            <a:br>
              <a:rPr lang="en-US" sz="1100">
                <a:latin typeface="Outfit"/>
                <a:ea typeface="Outfit"/>
                <a:cs typeface="Outfit"/>
                <a:sym typeface="Outfit"/>
              </a:rPr>
            </a:br>
            <a:endParaRPr sz="1100"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Outfit"/>
                <a:ea typeface="Outfit"/>
                <a:cs typeface="Outfit"/>
                <a:sym typeface="Outfit"/>
              </a:rPr>
              <a:t>Further improvements in </a:t>
            </a:r>
            <a:r>
              <a:rPr b="1" lang="en-US" sz="1100">
                <a:latin typeface="Outfit"/>
                <a:ea typeface="Outfit"/>
                <a:cs typeface="Outfit"/>
                <a:sym typeface="Outfit"/>
              </a:rPr>
              <a:t>technical SEO elements such as image ALT text, heading structure, and structured data</a:t>
            </a:r>
            <a:r>
              <a:rPr lang="en-US" sz="1100">
                <a:latin typeface="Outfit"/>
                <a:ea typeface="Outfit"/>
                <a:cs typeface="Outfit"/>
                <a:sym typeface="Outfit"/>
              </a:rPr>
              <a:t> could enhance overall search visibility.</a:t>
            </a:r>
            <a:endParaRPr sz="1100"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f7365f3dc_0_7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en-US" sz="2400">
                <a:solidFill>
                  <a:srgbClr val="000000"/>
                </a:solidFill>
              </a:rPr>
              <a:t>Digital Marketing Strategy</a:t>
            </a:r>
            <a:endParaRPr sz="2400"/>
          </a:p>
        </p:txBody>
      </p:sp>
      <p:sp>
        <p:nvSpPr>
          <p:cNvPr id="161" name="Google Shape;161;g3cf7365f3dc_0_70"/>
          <p:cNvSpPr txBox="1"/>
          <p:nvPr>
            <p:ph idx="1" type="body"/>
          </p:nvPr>
        </p:nvSpPr>
        <p:spPr>
          <a:xfrm>
            <a:off x="720000" y="1301650"/>
            <a:ext cx="4587300" cy="31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CC4125"/>
                </a:solidFill>
                <a:latin typeface="Outfit"/>
                <a:ea typeface="Outfit"/>
                <a:cs typeface="Outfit"/>
                <a:sym typeface="Outfit"/>
              </a:rPr>
              <a:t>Shift Awareness → Search (SEO)</a:t>
            </a:r>
            <a:endParaRPr b="1" sz="1100">
              <a:solidFill>
                <a:srgbClr val="CC4125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Optimize </a:t>
            </a:r>
            <a:r>
              <a:rPr b="1" lang="en-US" sz="11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service pages for high-intent keywords</a:t>
            </a:r>
            <a:r>
              <a:rPr lang="en-US" sz="11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(cloud migration, cybersecurity, AI services).</a:t>
            </a:r>
            <a:br>
              <a:rPr lang="en-US" sz="11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</a:br>
            <a:r>
              <a:rPr lang="en-US" sz="11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Implement </a:t>
            </a:r>
            <a:r>
              <a:rPr b="1" lang="en-US" sz="11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schema markup</a:t>
            </a:r>
            <a:r>
              <a:rPr lang="en-US" sz="11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to improve rich results and CTR.</a:t>
            </a:r>
            <a:endParaRPr sz="110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CC4125"/>
                </a:solidFill>
                <a:latin typeface="Outfit"/>
                <a:ea typeface="Outfit"/>
                <a:cs typeface="Outfit"/>
                <a:sym typeface="Outfit"/>
              </a:rPr>
              <a:t>Thought Leadership → Content Marketing</a:t>
            </a:r>
            <a:endParaRPr b="1" sz="1100">
              <a:solidFill>
                <a:srgbClr val="CC4125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Convert whitepapers/events into </a:t>
            </a:r>
            <a:r>
              <a:rPr b="1" lang="en-US" sz="11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SEO blogs, case studies, and webinars</a:t>
            </a:r>
            <a:r>
              <a:rPr lang="en-US" sz="11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</a:t>
            </a:r>
            <a:br>
              <a:rPr lang="en-US" sz="11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</a:br>
            <a:r>
              <a:rPr lang="en-US" sz="11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Use </a:t>
            </a:r>
            <a:r>
              <a:rPr b="1" lang="en-US" sz="11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pillar pages + topic clusters</a:t>
            </a:r>
            <a:r>
              <a:rPr lang="en-US" sz="11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to grow organic traffic.</a:t>
            </a:r>
            <a:endParaRPr sz="110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CC4125"/>
                </a:solidFill>
                <a:latin typeface="Outfit"/>
                <a:ea typeface="Outfit"/>
                <a:cs typeface="Outfit"/>
                <a:sym typeface="Outfit"/>
              </a:rPr>
              <a:t>Events &amp; Sales Outreach → Landing Pages</a:t>
            </a:r>
            <a:endParaRPr b="1" sz="1100">
              <a:solidFill>
                <a:srgbClr val="CC4125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1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Create </a:t>
            </a:r>
            <a:r>
              <a:rPr b="1" lang="en-US" sz="11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service-specific landing pages</a:t>
            </a:r>
            <a:r>
              <a:rPr lang="en-US" sz="11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with clear </a:t>
            </a:r>
            <a:r>
              <a:rPr b="1" lang="en-US" sz="11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CTAs (Book Demo / Talk to an Expert)</a:t>
            </a:r>
            <a:r>
              <a:rPr lang="en-US" sz="11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</a:t>
            </a:r>
            <a:br>
              <a:rPr lang="en-US" sz="11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</a:br>
            <a:r>
              <a:rPr lang="en-US" sz="11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Add </a:t>
            </a:r>
            <a:r>
              <a:rPr b="1" lang="en-US" sz="11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lead capture forms</a:t>
            </a:r>
            <a:r>
              <a:rPr lang="en-US" sz="11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and downloadable assets.</a:t>
            </a:r>
            <a:endParaRPr sz="110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62" name="Google Shape;162;g3cf7365f3dc_0_70"/>
          <p:cNvSpPr txBox="1"/>
          <p:nvPr/>
        </p:nvSpPr>
        <p:spPr>
          <a:xfrm>
            <a:off x="5307300" y="1540200"/>
            <a:ext cx="3437100" cy="25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CC4125"/>
                </a:solidFill>
                <a:latin typeface="Outfit"/>
                <a:ea typeface="Outfit"/>
                <a:cs typeface="Outfit"/>
                <a:sym typeface="Outfit"/>
              </a:rPr>
              <a:t>Branding → Social &amp; B2B Channels</a:t>
            </a:r>
            <a:endParaRPr b="1" sz="1100">
              <a:solidFill>
                <a:srgbClr val="CC4125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latin typeface="Outfit"/>
                <a:ea typeface="Outfit"/>
                <a:cs typeface="Outfit"/>
                <a:sym typeface="Outfit"/>
              </a:rPr>
              <a:t>Scale </a:t>
            </a:r>
            <a:r>
              <a:rPr b="1" lang="en-US" sz="1100">
                <a:latin typeface="Outfit"/>
                <a:ea typeface="Outfit"/>
                <a:cs typeface="Outfit"/>
                <a:sym typeface="Outfit"/>
              </a:rPr>
              <a:t>LinkedIn campaigns</a:t>
            </a:r>
            <a:r>
              <a:rPr lang="en-US" sz="1100">
                <a:latin typeface="Outfit"/>
                <a:ea typeface="Outfit"/>
                <a:cs typeface="Outfit"/>
                <a:sym typeface="Outfit"/>
              </a:rPr>
              <a:t> targeting enterprise decision-makers.</a:t>
            </a:r>
            <a:br>
              <a:rPr lang="en-US" sz="1100">
                <a:latin typeface="Outfit"/>
                <a:ea typeface="Outfit"/>
                <a:cs typeface="Outfit"/>
                <a:sym typeface="Outfit"/>
              </a:rPr>
            </a:br>
            <a:r>
              <a:rPr lang="en-US" sz="1100">
                <a:latin typeface="Outfit"/>
                <a:ea typeface="Outfit"/>
                <a:cs typeface="Outfit"/>
                <a:sym typeface="Outfit"/>
              </a:rPr>
              <a:t>Share </a:t>
            </a:r>
            <a:r>
              <a:rPr b="1" lang="en-US" sz="1100">
                <a:latin typeface="Outfit"/>
                <a:ea typeface="Outfit"/>
                <a:cs typeface="Outfit"/>
                <a:sym typeface="Outfit"/>
              </a:rPr>
              <a:t>insights, reports, and success stories</a:t>
            </a:r>
            <a:r>
              <a:rPr lang="en-US" sz="1100">
                <a:latin typeface="Outfit"/>
                <a:ea typeface="Outfit"/>
                <a:cs typeface="Outfit"/>
                <a:sym typeface="Outfit"/>
              </a:rPr>
              <a:t> to build authority.</a:t>
            </a:r>
            <a:endParaRPr sz="1100"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CC4125"/>
                </a:solidFill>
                <a:latin typeface="Outfit"/>
                <a:ea typeface="Outfit"/>
                <a:cs typeface="Outfit"/>
                <a:sym typeface="Outfit"/>
              </a:rPr>
              <a:t>Lead Capture → Marketing Automation</a:t>
            </a:r>
            <a:endParaRPr b="1" sz="1100">
              <a:solidFill>
                <a:srgbClr val="CC4125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100">
                <a:latin typeface="Outfit"/>
                <a:ea typeface="Outfit"/>
                <a:cs typeface="Outfit"/>
                <a:sym typeface="Outfit"/>
              </a:rPr>
              <a:t>Use </a:t>
            </a:r>
            <a:r>
              <a:rPr b="1" lang="en-US" sz="1100">
                <a:latin typeface="Outfit"/>
                <a:ea typeface="Outfit"/>
                <a:cs typeface="Outfit"/>
                <a:sym typeface="Outfit"/>
              </a:rPr>
              <a:t>email nurturing and CRM integration</a:t>
            </a:r>
            <a:r>
              <a:rPr lang="en-US" sz="1100">
                <a:latin typeface="Outfit"/>
                <a:ea typeface="Outfit"/>
                <a:cs typeface="Outfit"/>
                <a:sym typeface="Outfit"/>
              </a:rPr>
              <a:t> to qualify leads.</a:t>
            </a:r>
            <a:br>
              <a:rPr lang="en-US" sz="1100">
                <a:latin typeface="Outfit"/>
                <a:ea typeface="Outfit"/>
                <a:cs typeface="Outfit"/>
                <a:sym typeface="Outfit"/>
              </a:rPr>
            </a:br>
            <a:r>
              <a:rPr lang="en-US" sz="1100">
                <a:latin typeface="Outfit"/>
                <a:ea typeface="Outfit"/>
                <a:cs typeface="Outfit"/>
                <a:sym typeface="Outfit"/>
              </a:rPr>
              <a:t>Track performance with </a:t>
            </a:r>
            <a:r>
              <a:rPr b="1" lang="en-US" sz="1100">
                <a:latin typeface="Outfit"/>
                <a:ea typeface="Outfit"/>
                <a:cs typeface="Outfit"/>
                <a:sym typeface="Outfit"/>
              </a:rPr>
              <a:t>conversion analytics and campaign ROI</a:t>
            </a:r>
            <a:r>
              <a:rPr lang="en-US" sz="1100">
                <a:latin typeface="Outfit"/>
                <a:ea typeface="Outfit"/>
                <a:cs typeface="Outfit"/>
                <a:sym typeface="Outfit"/>
              </a:rPr>
              <a:t>.</a:t>
            </a:r>
            <a:endParaRPr sz="1100"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cf7365f3dc_0_7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WEBSITE DESIGN</a:t>
            </a:r>
            <a:endParaRPr/>
          </a:p>
        </p:txBody>
      </p:sp>
      <p:sp>
        <p:nvSpPr>
          <p:cNvPr id="168" name="Google Shape;168;g3cf7365f3dc_0_76"/>
          <p:cNvSpPr txBox="1"/>
          <p:nvPr>
            <p:ph idx="1" type="body"/>
          </p:nvPr>
        </p:nvSpPr>
        <p:spPr>
          <a:xfrm>
            <a:off x="5049725" y="1253925"/>
            <a:ext cx="3674100" cy="31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URL: </a:t>
            </a:r>
            <a:r>
              <a:rPr lang="en-US" sz="1300" u="sng">
                <a:solidFill>
                  <a:schemeClr val="hlink"/>
                </a:solidFill>
                <a:latin typeface="Outfit"/>
                <a:ea typeface="Outfit"/>
                <a:cs typeface="Outfit"/>
                <a:sym typeface="Outfit"/>
                <a:hlinkClick r:id="rId3"/>
              </a:rPr>
              <a:t>https://lavendersugar21.wixsite.com/dxc-cloud-solutions</a:t>
            </a:r>
            <a:r>
              <a:rPr lang="en-US" sz="13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endParaRPr sz="130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Tool Used:</a:t>
            </a:r>
            <a:r>
              <a:rPr lang="en-US" sz="13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Wix</a:t>
            </a:r>
            <a:endParaRPr sz="130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 landing page for DXC Cloud Solutions was designed to demonstrate website structure, service offerings, and lead generation strategies. </a:t>
            </a:r>
            <a:endParaRPr sz="130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The page includes a hero section, service highlights, value proposition, expert team section, and a contact call-to-action to encourage potential clients to request cloud consultation services.</a:t>
            </a:r>
            <a:endParaRPr sz="130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9" name="Google Shape;169;g3cf7365f3dc_0_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54625" y="1253925"/>
            <a:ext cx="3753576" cy="29004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ata Collection and Analysis - Master of Science in Community Health and Prevention Research by Slidesgo">
  <a:themeElements>
    <a:clrScheme name="Simple Light">
      <a:dk1>
        <a:srgbClr val="384655"/>
      </a:dk1>
      <a:lt1>
        <a:srgbClr val="FFFFFF"/>
      </a:lt1>
      <a:dk2>
        <a:srgbClr val="AFC7FF"/>
      </a:dk2>
      <a:lt2>
        <a:srgbClr val="9FCBFD"/>
      </a:lt2>
      <a:accent1>
        <a:srgbClr val="68DAF8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8465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Srimathi K</dc:creator>
</cp:coreProperties>
</file>
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Outfit"/>
      <p:regular r:id="rId21"/>
      <p:bold r:id="rId22"/>
    </p:embeddedFont>
    <p:embeddedFont>
      <p:font typeface="Outfit Medium"/>
      <p:regular r:id="rId23"/>
      <p:bold r:id="rId24"/>
    </p:embeddedFont>
    <p:embeddedFont>
      <p:font typeface="DM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byoK7F7sXpRqDdhDhmxMdOoT5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Outfit-bold.fntdata"/><Relationship Id="rId21" Type="http://schemas.openxmlformats.org/officeDocument/2006/relationships/font" Target="fonts/Outfit-regular.fntdata"/><Relationship Id="rId24" Type="http://schemas.openxmlformats.org/officeDocument/2006/relationships/font" Target="fonts/OutfitMedium-bold.fntdata"/><Relationship Id="rId23" Type="http://schemas.openxmlformats.org/officeDocument/2006/relationships/font" Target="fonts/Outfit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f7365f3d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cf7365f3d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5a82e38e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c5a82e38e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5a82e38e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c5a82e38e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8d45395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d08d45395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08d45395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d08d45395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8d45395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d08d45395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08d45395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08d45395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08d45395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d08d45395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8d45395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d08d45395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08d45395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d08d45395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08d45395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d08d45395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08d45395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d08d45395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f7365f3d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cf7365f3d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08d45395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d08d45395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9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21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6" name="Google Shape;16;p21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1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1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1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1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1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1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1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3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29" name="Google Shape;29;p23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3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3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3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3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3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3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3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24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9" name="Google Shape;39;p24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40" name="Google Shape;40;p24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4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4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3921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4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4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4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0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4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3333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" name="Google Shape;47;p24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i="0" sz="3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3300">
                <a:solidFill>
                  <a:srgbClr val="000000"/>
                </a:solidFill>
              </a:rPr>
              <a:t>Data-Driven Insights for Digital Marketing Campaigns</a:t>
            </a:r>
            <a:endParaRPr sz="3300"/>
          </a:p>
        </p:txBody>
      </p:sp>
      <p:sp>
        <p:nvSpPr>
          <p:cNvPr id="53" name="Google Shape;53;p1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BY: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SRIMATHI K</a:t>
            </a:r>
            <a:endParaRPr/>
          </a:p>
        </p:txBody>
      </p:sp>
      <p:cxnSp>
        <p:nvCxnSpPr>
          <p:cNvPr id="54" name="Google Shape;54;p1"/>
          <p:cNvCxnSpPr/>
          <p:nvPr/>
        </p:nvCxnSpPr>
        <p:spPr>
          <a:xfrm>
            <a:off x="823425" y="987213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" name="Google Shape;55;p1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56" name="Google Shape;56;p1"/>
            <p:cNvSpPr/>
            <p:nvPr/>
          </p:nvSpPr>
          <p:spPr>
            <a:xfrm flipH="1" rot="10800000">
              <a:off x="8492525" y="-1927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8551745" y="32678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6606686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103477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6684072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6109895" y="11940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6109895" y="6977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587339" y="1194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5634170" y="-42862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7017892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5193798" y="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068891" y="16222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 flipH="1" rot="10800000">
              <a:off x="5115337" y="3655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 flipH="1" rot="10800000">
              <a:off x="6606680" y="39247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 flipH="1" rot="10800000">
              <a:off x="5983934" y="50536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 flipH="1" rot="10800000">
              <a:off x="7178797" y="35333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 flipH="1" rot="10800000">
              <a:off x="6606686" y="460940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 flipH="1" rot="10800000">
              <a:off x="5526543" y="41283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8117298" y="28522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8172542" y="3036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type="title"/>
          </p:nvPr>
        </p:nvSpPr>
        <p:spPr>
          <a:xfrm>
            <a:off x="114299" y="365055"/>
            <a:ext cx="615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3000"/>
              <a:t>Problem Statement</a:t>
            </a:r>
            <a:br>
              <a:rPr lang="en-US" sz="3000"/>
            </a:br>
            <a:endParaRPr sz="3000"/>
          </a:p>
        </p:txBody>
      </p:sp>
      <p:sp>
        <p:nvSpPr>
          <p:cNvPr id="81" name="Google Shape;81;p2"/>
          <p:cNvSpPr txBox="1"/>
          <p:nvPr>
            <p:ph idx="1" type="subTitle"/>
          </p:nvPr>
        </p:nvSpPr>
        <p:spPr>
          <a:xfrm>
            <a:off x="272550" y="1265250"/>
            <a:ext cx="4890000" cy="28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Outfit"/>
              <a:buChar char="❖"/>
            </a:pPr>
            <a:r>
              <a:rPr lang="en-US">
                <a:latin typeface="Outfit"/>
                <a:ea typeface="Outfit"/>
                <a:cs typeface="Outfit"/>
                <a:sym typeface="Outfit"/>
              </a:rPr>
              <a:t> Digital campaigns generate large amounts of data</a:t>
            </a:r>
            <a:endParaRPr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Outfit"/>
              <a:buChar char="❖"/>
            </a:pPr>
            <a:r>
              <a:rPr lang="en-US">
                <a:latin typeface="Outfit"/>
                <a:ea typeface="Outfit"/>
                <a:cs typeface="Outfit"/>
                <a:sym typeface="Outfit"/>
              </a:rPr>
              <a:t> Businesses struggle to convert data into insights</a:t>
            </a:r>
            <a:endParaRPr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Outfit"/>
              <a:buChar char="❖"/>
            </a:pPr>
            <a:r>
              <a:rPr lang="en-US">
                <a:latin typeface="Outfit"/>
                <a:ea typeface="Outfit"/>
                <a:cs typeface="Outfit"/>
                <a:sym typeface="Outfit"/>
              </a:rPr>
              <a:t> Difficult to track performance and ROI across channels</a:t>
            </a:r>
            <a:endParaRPr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"/>
              <a:buChar char="❖"/>
            </a:pPr>
            <a:r>
              <a:rPr lang="en-US">
                <a:latin typeface="Outfit"/>
                <a:ea typeface="Outfit"/>
                <a:cs typeface="Outfit"/>
                <a:sym typeface="Outfit"/>
              </a:rPr>
              <a:t>Creating dashboards and analytics for better decisions.</a:t>
            </a:r>
            <a:endParaRPr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latin typeface="Outfit"/>
                <a:ea typeface="Outfit"/>
                <a:cs typeface="Outfit"/>
                <a:sym typeface="Outfit"/>
              </a:rPr>
              <a:t>Dataset Provided:</a:t>
            </a:r>
            <a:endParaRPr b="1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Outfit"/>
                <a:ea typeface="Outfit"/>
                <a:cs typeface="Outfit"/>
                <a:sym typeface="Outfit"/>
              </a:rPr>
              <a:t>The dataset provided a comprehensive view of marketing performance across channels, users, and conversions, enabling end to end analysis of campaign effectiveness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82" name="Google Shape;82;p2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83" name="Google Shape;83;p2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f7365f3dc_0_12"/>
          <p:cNvSpPr txBox="1"/>
          <p:nvPr>
            <p:ph type="title"/>
          </p:nvPr>
        </p:nvSpPr>
        <p:spPr>
          <a:xfrm>
            <a:off x="570900" y="4149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500"/>
              <a:buNone/>
            </a:pPr>
            <a:r>
              <a:rPr lang="en-US" sz="2000">
                <a:solidFill>
                  <a:srgbClr val="000000"/>
                </a:solidFill>
              </a:rPr>
              <a:t>Marketing Conversion Funnel</a:t>
            </a:r>
            <a:endParaRPr b="0" sz="2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000"/>
          </a:p>
        </p:txBody>
      </p:sp>
      <p:sp>
        <p:nvSpPr>
          <p:cNvPr id="106" name="Google Shape;106;g3cf7365f3dc_0_12"/>
          <p:cNvSpPr txBox="1"/>
          <p:nvPr>
            <p:ph idx="1" type="body"/>
          </p:nvPr>
        </p:nvSpPr>
        <p:spPr>
          <a:xfrm>
            <a:off x="570900" y="1389075"/>
            <a:ext cx="3966000" cy="25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utfit"/>
              <a:buChar char="●"/>
            </a:pP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There is a </a:t>
            </a:r>
            <a:r>
              <a:rPr b="1"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large drop from 62K users to 38K sessions</a:t>
            </a: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meaning many users are not engaging after landing.</a:t>
            </a:r>
            <a:b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utfit"/>
              <a:buChar char="●"/>
            </a:pP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Further drop to </a:t>
            </a:r>
            <a:r>
              <a:rPr b="1"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15K conversions</a:t>
            </a: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shows that only a portion of engaged users complete actions.</a:t>
            </a:r>
            <a:b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utfit"/>
              <a:buChar char="●"/>
            </a:pP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Overall conversion rate of </a:t>
            </a:r>
            <a:r>
              <a:rPr b="1"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23.8% indicates scope for improvement in the user journey</a:t>
            </a: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07" name="Google Shape;107;g3cf7365f3dc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8800" y="1292600"/>
            <a:ext cx="4257675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3c5a82e38ed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725" y="1175825"/>
            <a:ext cx="3906800" cy="264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c5a82e38ed_0_4"/>
          <p:cNvSpPr txBox="1"/>
          <p:nvPr/>
        </p:nvSpPr>
        <p:spPr>
          <a:xfrm>
            <a:off x="773725" y="1186500"/>
            <a:ext cx="33288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Direct channel brings the highest traffic but does not convert efficiently → optimize homepage and user journey.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Organic Search shows strong balance between traffic and conversions → increase focus on SEO efforts.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Other channels contribute very little → reassess or reduce investment in low-performing channels.</a:t>
            </a:r>
            <a:endParaRPr sz="12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4" name="Google Shape;114;g3c5a82e38ed_0_4"/>
          <p:cNvSpPr txBox="1"/>
          <p:nvPr/>
        </p:nvSpPr>
        <p:spPr>
          <a:xfrm>
            <a:off x="863275" y="549825"/>
            <a:ext cx="427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Outfit"/>
                <a:ea typeface="Outfit"/>
                <a:cs typeface="Outfit"/>
                <a:sym typeface="Outfit"/>
              </a:rPr>
              <a:t>Users vs Conversions by Channel</a:t>
            </a:r>
            <a:endParaRPr b="1" sz="2000"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5a82e38ed_0_17"/>
          <p:cNvSpPr txBox="1"/>
          <p:nvPr>
            <p:ph type="title"/>
          </p:nvPr>
        </p:nvSpPr>
        <p:spPr>
          <a:xfrm>
            <a:off x="405125" y="330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500"/>
              <a:buNone/>
            </a:pPr>
            <a:r>
              <a:rPr lang="en-US" sz="2000">
                <a:solidFill>
                  <a:srgbClr val="000000"/>
                </a:solidFill>
              </a:rPr>
              <a:t>Revenue vs Marketing Spend by Channel</a:t>
            </a:r>
            <a:endParaRPr b="0" sz="2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000"/>
          </a:p>
        </p:txBody>
      </p:sp>
      <p:pic>
        <p:nvPicPr>
          <p:cNvPr id="120" name="Google Shape;120;g3c5a82e38ed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9300" y="1370675"/>
            <a:ext cx="40957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c5a82e38ed_0_17"/>
          <p:cNvSpPr txBox="1"/>
          <p:nvPr/>
        </p:nvSpPr>
        <p:spPr>
          <a:xfrm>
            <a:off x="579325" y="1303550"/>
            <a:ext cx="3238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Organic Search generates high revenue with low cost → increase budget allocation here.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Direct channel has moderate returns with higher cost → improve conversion efficiency.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Some channels incur cost but generate little or no revenue → optimize or eliminate underperforming campaigns.</a:t>
            </a:r>
            <a:endParaRPr sz="1200"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08d453959_0_13"/>
          <p:cNvSpPr txBox="1"/>
          <p:nvPr>
            <p:ph type="title"/>
          </p:nvPr>
        </p:nvSpPr>
        <p:spPr>
          <a:xfrm>
            <a:off x="879125" y="6563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500"/>
              <a:buNone/>
            </a:pPr>
            <a:r>
              <a:rPr lang="en-US" sz="2000">
                <a:solidFill>
                  <a:srgbClr val="000000"/>
                </a:solidFill>
              </a:rPr>
              <a:t>KPI Summary</a:t>
            </a:r>
            <a:endParaRPr b="0" sz="2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000"/>
          </a:p>
        </p:txBody>
      </p:sp>
      <p:sp>
        <p:nvSpPr>
          <p:cNvPr id="127" name="Google Shape;127;g3d08d453959_0_13"/>
          <p:cNvSpPr txBox="1"/>
          <p:nvPr/>
        </p:nvSpPr>
        <p:spPr>
          <a:xfrm>
            <a:off x="817725" y="1303550"/>
            <a:ext cx="30000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High user volume (62K) but lower conversions (15K) indicates inefficiency → focus on improving conversion rate.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Revenue is moderate compared to traffic size → prioritize high-intent users.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There is a gap between acquisition and monetization → optimize key conversion touchpoints.</a:t>
            </a: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28" name="Google Shape;128;g3d08d453959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8250" y="1717225"/>
            <a:ext cx="4629150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08d453959_0_21"/>
          <p:cNvSpPr txBox="1"/>
          <p:nvPr>
            <p:ph type="title"/>
          </p:nvPr>
        </p:nvSpPr>
        <p:spPr>
          <a:xfrm>
            <a:off x="405125" y="330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</a:rPr>
              <a:t>Dominant Audience Segmen</a:t>
            </a:r>
            <a:r>
              <a:rPr lang="en-US" sz="2100">
                <a:solidFill>
                  <a:srgbClr val="000000"/>
                </a:solidFill>
              </a:rPr>
              <a:t>ts 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100"/>
          </a:p>
        </p:txBody>
      </p:sp>
      <p:sp>
        <p:nvSpPr>
          <p:cNvPr id="134" name="Google Shape;134;g3d08d453959_0_21"/>
          <p:cNvSpPr txBox="1"/>
          <p:nvPr/>
        </p:nvSpPr>
        <p:spPr>
          <a:xfrm>
            <a:off x="500325" y="1009200"/>
            <a:ext cx="33015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Media &amp; Entertainment and Technology segments dominate user base → focus marketing campaigns on these high-interest segments.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Audience is concentrated in a few categories rather than evenly distributed → personalize content for top segments to increase engagement.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Some segments have lower representation → explore targeted campaigns to expand reach in untapped segments.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35" name="Google Shape;135;g3d08d453959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4300" y="1055600"/>
            <a:ext cx="4381500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08d453959_0_27"/>
          <p:cNvSpPr txBox="1"/>
          <p:nvPr>
            <p:ph type="title"/>
          </p:nvPr>
        </p:nvSpPr>
        <p:spPr>
          <a:xfrm>
            <a:off x="405125" y="330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500"/>
              <a:buNone/>
            </a:pPr>
            <a:r>
              <a:rPr lang="en-US" sz="2000">
                <a:solidFill>
                  <a:srgbClr val="000000"/>
                </a:solidFill>
              </a:rPr>
              <a:t>Top 10 Revenue Contribution by Interest</a:t>
            </a:r>
            <a:endParaRPr b="0" sz="2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000"/>
          </a:p>
        </p:txBody>
      </p:sp>
      <p:sp>
        <p:nvSpPr>
          <p:cNvPr id="141" name="Google Shape;141;g3d08d453959_0_27"/>
          <p:cNvSpPr txBox="1"/>
          <p:nvPr/>
        </p:nvSpPr>
        <p:spPr>
          <a:xfrm>
            <a:off x="470700" y="1055600"/>
            <a:ext cx="33207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Revenue contribution is relatively similar across top interests → no single segment overwhelmingly dominates revenue.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Technology and Media related interests slightly lead in revenue → prioritize these segments for better ROI.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Smaller differences suggest opportunity to optimize multiple segments → apply targeted strategies across top performing interests.</a:t>
            </a:r>
            <a:endParaRPr sz="12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42" name="Google Shape;142;g3d08d453959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0125" y="1055600"/>
            <a:ext cx="4524375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08d453959_0_33"/>
          <p:cNvSpPr txBox="1"/>
          <p:nvPr>
            <p:ph type="title"/>
          </p:nvPr>
        </p:nvSpPr>
        <p:spPr>
          <a:xfrm>
            <a:off x="405125" y="330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500"/>
              <a:buNone/>
            </a:pPr>
            <a:r>
              <a:rPr lang="en-US" sz="2000">
                <a:solidFill>
                  <a:srgbClr val="000000"/>
                </a:solidFill>
              </a:rPr>
              <a:t>Users by Gender</a:t>
            </a:r>
            <a:endParaRPr b="0"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000"/>
          </a:p>
        </p:txBody>
      </p:sp>
      <p:sp>
        <p:nvSpPr>
          <p:cNvPr id="148" name="Google Shape;148;g3d08d453959_0_33"/>
          <p:cNvSpPr txBox="1"/>
          <p:nvPr/>
        </p:nvSpPr>
        <p:spPr>
          <a:xfrm>
            <a:off x="817725" y="1303550"/>
            <a:ext cx="3000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A large portion of users fall under “unknown” category → improve data tracking and user profiling.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Male and female users are relatively balanced → maintain inclusive marketing strategies.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Female users contribute significant share → consider targeted campaigns for higher engagement and conversions.</a:t>
            </a:r>
            <a:endParaRPr sz="12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49" name="Google Shape;149;g3d08d453959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0125" y="1055600"/>
            <a:ext cx="4486275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08d453959_0_39"/>
          <p:cNvSpPr txBox="1"/>
          <p:nvPr>
            <p:ph type="title"/>
          </p:nvPr>
        </p:nvSpPr>
        <p:spPr>
          <a:xfrm>
            <a:off x="405125" y="330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500"/>
              <a:buNone/>
            </a:pPr>
            <a:r>
              <a:rPr lang="en-US" sz="2000">
                <a:solidFill>
                  <a:srgbClr val="000000"/>
                </a:solidFill>
              </a:rPr>
              <a:t>Top Events by Event Count</a:t>
            </a:r>
            <a:endParaRPr b="0" sz="2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000"/>
          </a:p>
        </p:txBody>
      </p:sp>
      <p:sp>
        <p:nvSpPr>
          <p:cNvPr id="155" name="Google Shape;155;g3d08d453959_0_39"/>
          <p:cNvSpPr txBox="1"/>
          <p:nvPr/>
        </p:nvSpPr>
        <p:spPr>
          <a:xfrm>
            <a:off x="817725" y="1303550"/>
            <a:ext cx="30000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Page views and session starts dominate user activity → users are browsing more than converting.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High drop-off from browsing events to conversion-related events → optimize user journey to improve conversions.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Lower counts in key action events (like select_item) → improve CTA placement and product visibility.</a:t>
            </a: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56" name="Google Shape;156;g3d08d453959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0125" y="1055600"/>
            <a:ext cx="4152900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08d453959_0_57"/>
          <p:cNvSpPr txBox="1"/>
          <p:nvPr>
            <p:ph type="title"/>
          </p:nvPr>
        </p:nvSpPr>
        <p:spPr>
          <a:xfrm>
            <a:off x="405125" y="330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500"/>
              <a:buNone/>
            </a:pPr>
            <a:r>
              <a:rPr lang="en-US" sz="2000">
                <a:solidFill>
                  <a:srgbClr val="000000"/>
                </a:solidFill>
              </a:rPr>
              <a:t>Users by Country</a:t>
            </a:r>
            <a:endParaRPr b="0" sz="2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000"/>
          </a:p>
        </p:txBody>
      </p:sp>
      <p:sp>
        <p:nvSpPr>
          <p:cNvPr id="162" name="Google Shape;162;g3d08d453959_0_57"/>
          <p:cNvSpPr txBox="1"/>
          <p:nvPr/>
        </p:nvSpPr>
        <p:spPr>
          <a:xfrm>
            <a:off x="432625" y="1208575"/>
            <a:ext cx="4302900" cy="30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United States contributes the majority of users compared to other countries → prioritize marketing efforts in this region for maximum impact.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Significant drop in users after top countries indicates uneven geographic distribution → expand campaigns in emerging markets like India and Canada.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Lower contribution from other countries shows untapped potential → localize marketing strategies to improve reach.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63" name="Google Shape;163;g3d08d453959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5150" y="1332050"/>
            <a:ext cx="40852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08d453959_0_63"/>
          <p:cNvSpPr txBox="1"/>
          <p:nvPr>
            <p:ph type="title"/>
          </p:nvPr>
        </p:nvSpPr>
        <p:spPr>
          <a:xfrm>
            <a:off x="405125" y="330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500"/>
              <a:buNone/>
            </a:pPr>
            <a:r>
              <a:rPr lang="en-US" sz="2000">
                <a:solidFill>
                  <a:srgbClr val="000000"/>
                </a:solidFill>
              </a:rPr>
              <a:t>Revenue by Age group</a:t>
            </a:r>
            <a:endParaRPr b="0" sz="2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000"/>
          </a:p>
        </p:txBody>
      </p:sp>
      <p:sp>
        <p:nvSpPr>
          <p:cNvPr id="169" name="Google Shape;169;g3d08d453959_0_63"/>
          <p:cNvSpPr txBox="1"/>
          <p:nvPr/>
        </p:nvSpPr>
        <p:spPr>
          <a:xfrm>
            <a:off x="807175" y="1240225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Age group 35–44 generates the highest revenue → focus targeting on this high-value segment.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Younger groups (18–34) show lower revenue despite engagement → optimize conversion strategies for these users.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Older age groups (55+) contribute minimal revenue → reassess targeting or reduce focus on low-performing segments.</a:t>
            </a:r>
            <a:endParaRPr sz="12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70" name="Google Shape;170;g3d08d453959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3425" y="1303550"/>
            <a:ext cx="43910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08d453959_0_69"/>
          <p:cNvSpPr txBox="1"/>
          <p:nvPr>
            <p:ph type="title"/>
          </p:nvPr>
        </p:nvSpPr>
        <p:spPr>
          <a:xfrm>
            <a:off x="442050" y="4829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000000"/>
                </a:solidFill>
              </a:rPr>
              <a:t>CTR vs CPC by Channel</a:t>
            </a:r>
            <a:endParaRPr b="0" sz="2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000"/>
          </a:p>
        </p:txBody>
      </p:sp>
      <p:sp>
        <p:nvSpPr>
          <p:cNvPr id="176" name="Google Shape;176;g3d08d453959_0_69"/>
          <p:cNvSpPr txBox="1"/>
          <p:nvPr/>
        </p:nvSpPr>
        <p:spPr>
          <a:xfrm>
            <a:off x="817725" y="1303550"/>
            <a:ext cx="3000000" cy="27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Some channels show high CTR but also high CPC → optimize campaigns to balance cost and performance.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Organic channels maintain reasonable CTR with low CPC → prioritize organic strategies for cost efficiency.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Certain channels show low CTR and low impact → improve ad creatives or reduce investment.</a:t>
            </a:r>
            <a:br>
              <a:rPr lang="en-US" sz="1100"/>
            </a:br>
            <a:endParaRPr sz="12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77" name="Google Shape;177;g3d08d453959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0125" y="1055600"/>
            <a:ext cx="414337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08d453959_0_75"/>
          <p:cNvSpPr txBox="1"/>
          <p:nvPr>
            <p:ph type="title"/>
          </p:nvPr>
        </p:nvSpPr>
        <p:spPr>
          <a:xfrm>
            <a:off x="405125" y="330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500"/>
              <a:buNone/>
            </a:pPr>
            <a:r>
              <a:rPr lang="en-US" sz="2000">
                <a:solidFill>
                  <a:srgbClr val="000000"/>
                </a:solidFill>
              </a:rPr>
              <a:t>ROI By Channel</a:t>
            </a:r>
            <a:endParaRPr b="0" sz="2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000"/>
          </a:p>
        </p:txBody>
      </p:sp>
      <p:sp>
        <p:nvSpPr>
          <p:cNvPr id="183" name="Google Shape;183;g3d08d453959_0_75"/>
          <p:cNvSpPr txBox="1"/>
          <p:nvPr/>
        </p:nvSpPr>
        <p:spPr>
          <a:xfrm>
            <a:off x="817725" y="1303550"/>
            <a:ext cx="3000000" cy="25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Organic Search contributes the highest ROI → increase investment in this channel.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Direct and Paid Search also add positive ROI → optimize these channels for better returns.</a:t>
            </a:r>
            <a:br>
              <a:rPr lang="en-US" sz="1200">
                <a:latin typeface="Outfit"/>
                <a:ea typeface="Outfit"/>
                <a:cs typeface="Outfit"/>
                <a:sym typeface="Outfit"/>
              </a:rPr>
            </a:b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200">
                <a:latin typeface="Outfit"/>
                <a:ea typeface="Outfit"/>
                <a:cs typeface="Outfit"/>
                <a:sym typeface="Outfit"/>
              </a:rPr>
              <a:t>Some channels show negligible or no contribution → eliminate or improve underperforming channels.</a:t>
            </a:r>
            <a:endParaRPr sz="12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84" name="Google Shape;184;g3d08d453959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0125" y="1055600"/>
            <a:ext cx="4410075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f7365f3dc_0_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3500"/>
              <a:buNone/>
            </a:pPr>
            <a:r>
              <a:rPr lang="en-US" sz="2400"/>
              <a:t>Key Patterns</a:t>
            </a:r>
            <a:endParaRPr sz="2400"/>
          </a:p>
        </p:txBody>
      </p:sp>
      <p:sp>
        <p:nvSpPr>
          <p:cNvPr id="190" name="Google Shape;190;g3cf7365f3dc_0_70"/>
          <p:cNvSpPr txBox="1"/>
          <p:nvPr>
            <p:ph idx="1" type="body"/>
          </p:nvPr>
        </p:nvSpPr>
        <p:spPr>
          <a:xfrm>
            <a:off x="830775" y="1259450"/>
            <a:ext cx="71754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High traffic is driven by </a:t>
            </a:r>
            <a:r>
              <a:rPr b="1"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Direct and Organic Search</a:t>
            </a: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but conversion efficiency is low.</a:t>
            </a:r>
            <a:b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Organic Search delivers the highest ROI</a:t>
            </a: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making it the most effective channel.</a:t>
            </a:r>
            <a:b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Users are highly active in </a:t>
            </a:r>
            <a:r>
              <a:rPr b="1"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browsing events</a:t>
            </a: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but drop off before completing conversions.</a:t>
            </a:r>
            <a:b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Revenue is concentrated in </a:t>
            </a:r>
            <a:r>
              <a:rPr b="1"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specific segments (Media, Technology, age 35–44)</a:t>
            </a: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b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Geographic performance is uneven, with </a:t>
            </a:r>
            <a:r>
              <a:rPr b="1"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USA dominating traffic</a:t>
            </a: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and other markets underutilized.</a:t>
            </a:r>
            <a:b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b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1">
              <a:solidFill>
                <a:srgbClr val="CC4125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08d453959_0_9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3500"/>
              <a:buNone/>
            </a:pPr>
            <a:r>
              <a:rPr lang="en-US" sz="2400"/>
              <a:t>Strategic Recommendations &amp; Action Plan</a:t>
            </a:r>
            <a:endParaRPr sz="2400"/>
          </a:p>
        </p:txBody>
      </p:sp>
      <p:sp>
        <p:nvSpPr>
          <p:cNvPr id="196" name="Google Shape;196;g3d08d453959_0_91"/>
          <p:cNvSpPr txBox="1"/>
          <p:nvPr>
            <p:ph idx="1" type="body"/>
          </p:nvPr>
        </p:nvSpPr>
        <p:spPr>
          <a:xfrm>
            <a:off x="781400" y="1200200"/>
            <a:ext cx="45576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1. </a:t>
            </a:r>
            <a:r>
              <a:rPr b="1" lang="en-US" sz="1300">
                <a:solidFill>
                  <a:srgbClr val="980000"/>
                </a:solidFill>
                <a:latin typeface="Outfit"/>
                <a:ea typeface="Outfit"/>
                <a:cs typeface="Outfit"/>
                <a:sym typeface="Outfit"/>
              </a:rPr>
              <a:t>Channel Optimization</a:t>
            </a:r>
            <a:endParaRPr b="1" sz="1300">
              <a:solidFill>
                <a:srgbClr val="98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Organic Search generates the highest revenue (~2.8K) with low cost, while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Direct drives ~49K users but lower conversion efficiency 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→ increase SEO investment and optimize homepage experience for Direct traffic.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2. </a:t>
            </a:r>
            <a:r>
              <a:rPr b="1" lang="en-US" sz="1300">
                <a:solidFill>
                  <a:srgbClr val="980000"/>
                </a:solidFill>
                <a:latin typeface="Outfit"/>
                <a:ea typeface="Outfit"/>
                <a:cs typeface="Outfit"/>
                <a:sym typeface="Outfit"/>
              </a:rPr>
              <a:t>Conversion Improvement</a:t>
            </a:r>
            <a:endParaRPr b="1" sz="1300">
              <a:solidFill>
                <a:srgbClr val="98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There is a drop from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62K users → 38K engaged sessions → 15K conversions (23.8%)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indicating major funnel inefficiency → improve landing pages, simplify navigation, and add stronger CTAs.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3. </a:t>
            </a:r>
            <a:r>
              <a:rPr b="1" lang="en-US" sz="1300">
                <a:solidFill>
                  <a:srgbClr val="980000"/>
                </a:solidFill>
                <a:latin typeface="Outfit"/>
                <a:ea typeface="Outfit"/>
                <a:cs typeface="Outfit"/>
                <a:sym typeface="Outfit"/>
              </a:rPr>
              <a:t>Audience Targeting</a:t>
            </a:r>
            <a:endParaRPr b="1" sz="1300">
              <a:solidFill>
                <a:srgbClr val="98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Media &amp; Technology segments contribute the highest revenue (~3K+ each), and age group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35–44 generates ~3K revenue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focus campaigns on these high-value segments.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1">
              <a:solidFill>
                <a:srgbClr val="CC4125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7" name="Google Shape;197;g3d08d453959_0_91"/>
          <p:cNvSpPr txBox="1"/>
          <p:nvPr/>
        </p:nvSpPr>
        <p:spPr>
          <a:xfrm>
            <a:off x="5539725" y="1200200"/>
            <a:ext cx="3314700" cy="3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latin typeface="Outfit"/>
                <a:ea typeface="Outfit"/>
                <a:cs typeface="Outfit"/>
                <a:sym typeface="Outfit"/>
              </a:rPr>
              <a:t>4. </a:t>
            </a:r>
            <a:r>
              <a:rPr b="1" lang="en-US" sz="1300">
                <a:solidFill>
                  <a:srgbClr val="980000"/>
                </a:solidFill>
                <a:latin typeface="Outfit"/>
                <a:ea typeface="Outfit"/>
                <a:cs typeface="Outfit"/>
                <a:sym typeface="Outfit"/>
              </a:rPr>
              <a:t>Remarketing Strategy</a:t>
            </a:r>
            <a:endParaRPr b="1" sz="1300">
              <a:solidFill>
                <a:srgbClr val="98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User activity is high in browsing events (</a:t>
            </a: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116K page views, 88K session starts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) but conversions are much lower (</a:t>
            </a: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15K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) → implement remarketing to re-engage non-converting users.</a:t>
            </a:r>
            <a:endParaRPr sz="11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latin typeface="Outfit"/>
                <a:ea typeface="Outfit"/>
                <a:cs typeface="Outfit"/>
                <a:sym typeface="Outfit"/>
              </a:rPr>
              <a:t>5. </a:t>
            </a:r>
            <a:r>
              <a:rPr b="1" lang="en-US" sz="1300">
                <a:solidFill>
                  <a:srgbClr val="980000"/>
                </a:solidFill>
                <a:latin typeface="Outfit"/>
                <a:ea typeface="Outfit"/>
                <a:cs typeface="Outfit"/>
                <a:sym typeface="Outfit"/>
              </a:rPr>
              <a:t>Budget Optimization</a:t>
            </a:r>
            <a:endParaRPr b="1" sz="1300">
              <a:solidFill>
                <a:srgbClr val="98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Channels like Email, Cross-network, and Organic Video contribute </a:t>
            </a: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near 0 revenue and minimal users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 → reallocate budget toward high-performing channels like Organic Search and Direct.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Srimathi K</dc:creator>
</cp:coreProperties>
</file>
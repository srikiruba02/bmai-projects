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o6ZTDwZoW1pjjWfpTiUvMmxw7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3E0F36-81BA-4EAE-BA2A-E1B38BB4F5F7}">
  <a:tblStyle styleId="{6E3E0F36-81BA-4EAE-BA2A-E1B38BB4F5F7}" styleName="Table_0">
    <a:wholeTbl>
      <a:tcTxStyle b="off" i="off">
        <a:font>
          <a:latin typeface="Skeena"/>
          <a:ea typeface="Skeena"/>
          <a:cs typeface="Skeen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AF0E9"/>
          </a:solidFill>
        </a:fill>
      </a:tcStyle>
    </a:wholeTbl>
    <a:band1H>
      <a:tcTxStyle/>
      <a:tcStyle>
        <a:fill>
          <a:solidFill>
            <a:srgbClr val="D1DFD1"/>
          </a:solidFill>
        </a:fill>
      </a:tcStyle>
    </a:band1H>
    <a:band2H>
      <a:tcTxStyle/>
    </a:band2H>
    <a:band1V>
      <a:tcTxStyle/>
      <a:tcStyle>
        <a:fill>
          <a:solidFill>
            <a:srgbClr val="D1DFD1"/>
          </a:solidFill>
        </a:fill>
      </a:tcStyle>
    </a:band1V>
    <a:band2V>
      <a:tcTxStyle/>
    </a:band2V>
    <a:lastCol>
      <a:tcTxStyle b="on" i="off">
        <a:font>
          <a:latin typeface="Skeena"/>
          <a:ea typeface="Skeena"/>
          <a:cs typeface="Skeen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keena"/>
          <a:ea typeface="Skeena"/>
          <a:cs typeface="Skeen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keena"/>
          <a:ea typeface="Skeena"/>
          <a:cs typeface="Skeen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keena"/>
          <a:ea typeface="Skeena"/>
          <a:cs typeface="Skeen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7"/>
          <p:cNvSpPr txBox="1"/>
          <p:nvPr>
            <p:ph type="ctrTitle"/>
          </p:nvPr>
        </p:nvSpPr>
        <p:spPr>
          <a:xfrm>
            <a:off x="838200" y="2465970"/>
            <a:ext cx="5739882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1"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" type="subTitle"/>
          </p:nvPr>
        </p:nvSpPr>
        <p:spPr>
          <a:xfrm>
            <a:off x="838200" y="5159827"/>
            <a:ext cx="5739882" cy="783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ntent">
  <p:cSld name="Title and four content">
    <p:bg>
      <p:bgPr>
        <a:solidFill>
          <a:schemeClr val="accent4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title"/>
          </p:nvPr>
        </p:nvSpPr>
        <p:spPr>
          <a:xfrm>
            <a:off x="2024742" y="822325"/>
            <a:ext cx="932905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body"/>
          </p:nvPr>
        </p:nvSpPr>
        <p:spPr>
          <a:xfrm>
            <a:off x="2024742" y="2595562"/>
            <a:ext cx="4334689" cy="474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b="1" sz="18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8"/>
          <p:cNvSpPr/>
          <p:nvPr/>
        </p:nvSpPr>
        <p:spPr>
          <a:xfrm>
            <a:off x="0" y="-1"/>
            <a:ext cx="674914" cy="68579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8"/>
          <p:cNvSpPr/>
          <p:nvPr/>
        </p:nvSpPr>
        <p:spPr>
          <a:xfrm flipH="1" rot="10800000">
            <a:off x="674914" y="0"/>
            <a:ext cx="67491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8"/>
          <p:cNvSpPr txBox="1"/>
          <p:nvPr>
            <p:ph idx="2" type="body"/>
          </p:nvPr>
        </p:nvSpPr>
        <p:spPr>
          <a:xfrm>
            <a:off x="7019111" y="2595562"/>
            <a:ext cx="4334689" cy="474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b="1" sz="18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3" type="body"/>
          </p:nvPr>
        </p:nvSpPr>
        <p:spPr>
          <a:xfrm>
            <a:off x="2024742" y="4446132"/>
            <a:ext cx="4334689" cy="474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b="1" sz="18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4" type="body"/>
          </p:nvPr>
        </p:nvSpPr>
        <p:spPr>
          <a:xfrm>
            <a:off x="7019111" y="4446132"/>
            <a:ext cx="4334689" cy="474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b="1" sz="18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5" type="body"/>
          </p:nvPr>
        </p:nvSpPr>
        <p:spPr>
          <a:xfrm>
            <a:off x="2024740" y="3069773"/>
            <a:ext cx="4334689" cy="1219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6" type="body"/>
          </p:nvPr>
        </p:nvSpPr>
        <p:spPr>
          <a:xfrm>
            <a:off x="7019109" y="3069773"/>
            <a:ext cx="4334689" cy="1219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7" type="body"/>
          </p:nvPr>
        </p:nvSpPr>
        <p:spPr>
          <a:xfrm>
            <a:off x="2024740" y="4920343"/>
            <a:ext cx="4334689" cy="1219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8" type="body"/>
          </p:nvPr>
        </p:nvSpPr>
        <p:spPr>
          <a:xfrm>
            <a:off x="7019109" y="4920343"/>
            <a:ext cx="4334689" cy="1219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2024740" y="6356350"/>
            <a:ext cx="15566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9595D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4038600" y="6356350"/>
            <a:ext cx="52686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9595D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9764486" y="6356350"/>
            <a:ext cx="1589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 text with top border" type="obj">
  <p:cSld name="OBJECT">
    <p:bg>
      <p:bgPr>
        <a:solidFill>
          <a:schemeClr val="accent5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3253740" y="1957701"/>
            <a:ext cx="5684520" cy="130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Font typeface="Arial"/>
              <a:buNone/>
              <a:defRPr b="1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3253740" y="3429000"/>
            <a:ext cx="5684520" cy="2347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/>
          <p:nvPr/>
        </p:nvSpPr>
        <p:spPr>
          <a:xfrm>
            <a:off x="0" y="0"/>
            <a:ext cx="12192000" cy="10814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A7BA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A7BA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solidFill>
          <a:schemeClr val="accent4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5669280" y="822325"/>
            <a:ext cx="56845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5669280" y="2595562"/>
            <a:ext cx="5684520" cy="3181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0"/>
          <p:cNvSpPr/>
          <p:nvPr/>
        </p:nvSpPr>
        <p:spPr>
          <a:xfrm>
            <a:off x="0" y="0"/>
            <a:ext cx="4175760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0"/>
          <p:cNvSpPr/>
          <p:nvPr/>
        </p:nvSpPr>
        <p:spPr>
          <a:xfrm flipH="1" rot="10800000">
            <a:off x="0" y="3840480"/>
            <a:ext cx="4175760" cy="2087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0"/>
          <p:cNvSpPr/>
          <p:nvPr/>
        </p:nvSpPr>
        <p:spPr>
          <a:xfrm flipH="1" rot="10800000">
            <a:off x="0" y="5928360"/>
            <a:ext cx="4175760" cy="929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59BEC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9595D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ntent">
  <p:cSld name="Title and two conte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type="title"/>
          </p:nvPr>
        </p:nvSpPr>
        <p:spPr>
          <a:xfrm>
            <a:off x="838200" y="822325"/>
            <a:ext cx="56845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" type="body"/>
          </p:nvPr>
        </p:nvSpPr>
        <p:spPr>
          <a:xfrm>
            <a:off x="838200" y="2595562"/>
            <a:ext cx="5684520" cy="441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b="1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1"/>
          <p:cNvSpPr/>
          <p:nvPr/>
        </p:nvSpPr>
        <p:spPr>
          <a:xfrm>
            <a:off x="8016240" y="0"/>
            <a:ext cx="240138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1"/>
          <p:cNvSpPr/>
          <p:nvPr/>
        </p:nvSpPr>
        <p:spPr>
          <a:xfrm flipH="1" rot="10800000">
            <a:off x="10417629" y="0"/>
            <a:ext cx="177437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1"/>
          <p:cNvSpPr/>
          <p:nvPr/>
        </p:nvSpPr>
        <p:spPr>
          <a:xfrm flipH="1" rot="10800000">
            <a:off x="11800114" y="0"/>
            <a:ext cx="39188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1"/>
          <p:cNvSpPr txBox="1"/>
          <p:nvPr>
            <p:ph idx="2" type="body"/>
          </p:nvPr>
        </p:nvSpPr>
        <p:spPr>
          <a:xfrm>
            <a:off x="838200" y="4529818"/>
            <a:ext cx="5684520" cy="441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b="1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3" type="body"/>
          </p:nvPr>
        </p:nvSpPr>
        <p:spPr>
          <a:xfrm>
            <a:off x="838200" y="3040514"/>
            <a:ext cx="5684520" cy="1106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4" type="body"/>
          </p:nvPr>
        </p:nvSpPr>
        <p:spPr>
          <a:xfrm>
            <a:off x="838200" y="4993888"/>
            <a:ext cx="5684520" cy="1106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9595D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9595D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eft content">
  <p:cSld name="Title and left content">
    <p:bg>
      <p:bgPr>
        <a:solidFill>
          <a:schemeClr val="accent4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2"/>
          <p:cNvSpPr txBox="1"/>
          <p:nvPr>
            <p:ph type="title"/>
          </p:nvPr>
        </p:nvSpPr>
        <p:spPr>
          <a:xfrm>
            <a:off x="1173480" y="3864426"/>
            <a:ext cx="5684520" cy="7377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173480" y="4879291"/>
            <a:ext cx="56845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2"/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2"/>
          <p:cNvSpPr/>
          <p:nvPr/>
        </p:nvSpPr>
        <p:spPr>
          <a:xfrm flipH="1" rot="10800000">
            <a:off x="8016240" y="0"/>
            <a:ext cx="41757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9595D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2"/>
          <p:cNvSpPr/>
          <p:nvPr/>
        </p:nvSpPr>
        <p:spPr>
          <a:xfrm>
            <a:off x="8011886" y="3429000"/>
            <a:ext cx="4180114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9595D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31878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31878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31878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31878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31878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31878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31878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31878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31878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 text">
  <p:cSld name="Center text">
    <p:bg>
      <p:bgPr>
        <a:solidFill>
          <a:schemeClr val="accent5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3"/>
          <p:cNvSpPr txBox="1"/>
          <p:nvPr>
            <p:ph type="title"/>
          </p:nvPr>
        </p:nvSpPr>
        <p:spPr>
          <a:xfrm>
            <a:off x="3253740" y="1957701"/>
            <a:ext cx="5684520" cy="130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Font typeface="Arial"/>
              <a:buNone/>
              <a:defRPr b="1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" type="body"/>
          </p:nvPr>
        </p:nvSpPr>
        <p:spPr>
          <a:xfrm>
            <a:off x="3253740" y="3429000"/>
            <a:ext cx="5684520" cy="2347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3"/>
          <p:cNvSpPr/>
          <p:nvPr/>
        </p:nvSpPr>
        <p:spPr>
          <a:xfrm>
            <a:off x="0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3"/>
          <p:cNvSpPr/>
          <p:nvPr/>
        </p:nvSpPr>
        <p:spPr>
          <a:xfrm>
            <a:off x="10276114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A7BA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ntent">
  <p:cSld name="Four content">
    <p:bg>
      <p:bgPr>
        <a:solidFill>
          <a:schemeClr val="accent5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4"/>
          <p:cNvSpPr/>
          <p:nvPr/>
        </p:nvSpPr>
        <p:spPr>
          <a:xfrm>
            <a:off x="0" y="0"/>
            <a:ext cx="12192000" cy="1981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" type="body"/>
          </p:nvPr>
        </p:nvSpPr>
        <p:spPr>
          <a:xfrm>
            <a:off x="775607" y="4553832"/>
            <a:ext cx="2105186" cy="67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2" type="body"/>
          </p:nvPr>
        </p:nvSpPr>
        <p:spPr>
          <a:xfrm>
            <a:off x="3620807" y="4553832"/>
            <a:ext cx="2105186" cy="67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3" type="body"/>
          </p:nvPr>
        </p:nvSpPr>
        <p:spPr>
          <a:xfrm>
            <a:off x="6466007" y="4553832"/>
            <a:ext cx="2105186" cy="67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4"/>
          <p:cNvSpPr txBox="1"/>
          <p:nvPr>
            <p:ph idx="4" type="body"/>
          </p:nvPr>
        </p:nvSpPr>
        <p:spPr>
          <a:xfrm>
            <a:off x="9311207" y="4553832"/>
            <a:ext cx="2105186" cy="678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4"/>
          <p:cNvSpPr/>
          <p:nvPr>
            <p:ph idx="5" type="clipArt"/>
          </p:nvPr>
        </p:nvSpPr>
        <p:spPr>
          <a:xfrm>
            <a:off x="1090200" y="3080256"/>
            <a:ext cx="1476375" cy="1474788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24"/>
          <p:cNvSpPr/>
          <p:nvPr>
            <p:ph idx="6" type="clipArt"/>
          </p:nvPr>
        </p:nvSpPr>
        <p:spPr>
          <a:xfrm>
            <a:off x="3935025" y="3080256"/>
            <a:ext cx="1476375" cy="1474788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24"/>
          <p:cNvSpPr/>
          <p:nvPr>
            <p:ph idx="7" type="clipArt"/>
          </p:nvPr>
        </p:nvSpPr>
        <p:spPr>
          <a:xfrm>
            <a:off x="6779850" y="3079044"/>
            <a:ext cx="1476375" cy="1474788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24"/>
          <p:cNvSpPr/>
          <p:nvPr>
            <p:ph idx="8" type="clipArt"/>
          </p:nvPr>
        </p:nvSpPr>
        <p:spPr>
          <a:xfrm>
            <a:off x="9625612" y="3079044"/>
            <a:ext cx="1476375" cy="147478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A7BA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A7BA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, and four images">
  <p:cSld name="Title, content, and four images">
    <p:bg>
      <p:bgPr>
        <a:solidFill>
          <a:schemeClr val="accent4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/>
          <p:nvPr/>
        </p:nvSpPr>
        <p:spPr>
          <a:xfrm>
            <a:off x="0" y="3429000"/>
            <a:ext cx="48768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5"/>
          <p:cNvSpPr/>
          <p:nvPr/>
        </p:nvSpPr>
        <p:spPr>
          <a:xfrm>
            <a:off x="0" y="1"/>
            <a:ext cx="48768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5"/>
          <p:cNvSpPr txBox="1"/>
          <p:nvPr>
            <p:ph type="title"/>
          </p:nvPr>
        </p:nvSpPr>
        <p:spPr>
          <a:xfrm>
            <a:off x="838200" y="365125"/>
            <a:ext cx="3200400" cy="26211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Font typeface="Arial"/>
              <a:buNone/>
              <a:defRPr b="1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" type="body"/>
          </p:nvPr>
        </p:nvSpPr>
        <p:spPr>
          <a:xfrm>
            <a:off x="6073368" y="2131457"/>
            <a:ext cx="2105186" cy="365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b="1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2" type="body"/>
          </p:nvPr>
        </p:nvSpPr>
        <p:spPr>
          <a:xfrm>
            <a:off x="8924518" y="2131457"/>
            <a:ext cx="2105186" cy="365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b="1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3" type="body"/>
          </p:nvPr>
        </p:nvSpPr>
        <p:spPr>
          <a:xfrm>
            <a:off x="6074118" y="4874657"/>
            <a:ext cx="2105186" cy="365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b="1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4" type="body"/>
          </p:nvPr>
        </p:nvSpPr>
        <p:spPr>
          <a:xfrm>
            <a:off x="8919318" y="4874657"/>
            <a:ext cx="2105186" cy="365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b="1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5"/>
          <p:cNvSpPr/>
          <p:nvPr>
            <p:ph idx="5" type="clipArt"/>
          </p:nvPr>
        </p:nvSpPr>
        <p:spPr>
          <a:xfrm>
            <a:off x="6387961" y="643469"/>
            <a:ext cx="1476375" cy="1474788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5"/>
          <p:cNvSpPr/>
          <p:nvPr>
            <p:ph idx="6" type="clipArt"/>
          </p:nvPr>
        </p:nvSpPr>
        <p:spPr>
          <a:xfrm>
            <a:off x="9238736" y="643469"/>
            <a:ext cx="1476375" cy="1474788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5"/>
          <p:cNvSpPr/>
          <p:nvPr>
            <p:ph idx="7" type="clipArt"/>
          </p:nvPr>
        </p:nvSpPr>
        <p:spPr>
          <a:xfrm>
            <a:off x="6387961" y="3385457"/>
            <a:ext cx="1476375" cy="1474788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5"/>
          <p:cNvSpPr/>
          <p:nvPr>
            <p:ph idx="8" type="clipArt"/>
          </p:nvPr>
        </p:nvSpPr>
        <p:spPr>
          <a:xfrm>
            <a:off x="9233723" y="3385457"/>
            <a:ext cx="1476375" cy="1474788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5"/>
          <p:cNvSpPr txBox="1"/>
          <p:nvPr>
            <p:ph idx="9" type="body"/>
          </p:nvPr>
        </p:nvSpPr>
        <p:spPr>
          <a:xfrm>
            <a:off x="838200" y="4112198"/>
            <a:ext cx="3200400" cy="1395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13" type="body"/>
          </p:nvPr>
        </p:nvSpPr>
        <p:spPr>
          <a:xfrm>
            <a:off x="6073368" y="2577595"/>
            <a:ext cx="2105186" cy="365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4" type="body"/>
          </p:nvPr>
        </p:nvSpPr>
        <p:spPr>
          <a:xfrm>
            <a:off x="8924518" y="2577595"/>
            <a:ext cx="2105186" cy="365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15" type="body"/>
          </p:nvPr>
        </p:nvSpPr>
        <p:spPr>
          <a:xfrm>
            <a:off x="6074118" y="5320795"/>
            <a:ext cx="2105186" cy="365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16" type="body"/>
          </p:nvPr>
        </p:nvSpPr>
        <p:spPr>
          <a:xfrm>
            <a:off x="8919318" y="5320795"/>
            <a:ext cx="2105186" cy="365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17" type="body"/>
          </p:nvPr>
        </p:nvSpPr>
        <p:spPr>
          <a:xfrm>
            <a:off x="838201" y="5511642"/>
            <a:ext cx="3200400" cy="8447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BFD9B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9595D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77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g Chart">
  <p:cSld name="Org Chart">
    <p:bg>
      <p:bgPr>
        <a:solidFill>
          <a:schemeClr val="accent5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 txBox="1"/>
          <p:nvPr>
            <p:ph type="title"/>
          </p:nvPr>
        </p:nvSpPr>
        <p:spPr>
          <a:xfrm>
            <a:off x="838200" y="695037"/>
            <a:ext cx="45732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Font typeface="Arial"/>
              <a:buNone/>
              <a:defRPr b="1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1" type="body"/>
          </p:nvPr>
        </p:nvSpPr>
        <p:spPr>
          <a:xfrm>
            <a:off x="5021635" y="2039382"/>
            <a:ext cx="21051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2" type="body"/>
          </p:nvPr>
        </p:nvSpPr>
        <p:spPr>
          <a:xfrm>
            <a:off x="5021635" y="2408260"/>
            <a:ext cx="21051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  <a:defRPr sz="12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3" type="body"/>
          </p:nvPr>
        </p:nvSpPr>
        <p:spPr>
          <a:xfrm>
            <a:off x="5043407" y="4770420"/>
            <a:ext cx="21051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6"/>
          <p:cNvSpPr txBox="1"/>
          <p:nvPr>
            <p:ph idx="4" type="body"/>
          </p:nvPr>
        </p:nvSpPr>
        <p:spPr>
          <a:xfrm>
            <a:off x="5043407" y="5139298"/>
            <a:ext cx="21051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  <a:defRPr sz="12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6"/>
          <p:cNvSpPr txBox="1"/>
          <p:nvPr>
            <p:ph idx="5" type="body"/>
          </p:nvPr>
        </p:nvSpPr>
        <p:spPr>
          <a:xfrm>
            <a:off x="2757407" y="4758255"/>
            <a:ext cx="21051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6"/>
          <p:cNvSpPr txBox="1"/>
          <p:nvPr>
            <p:ph idx="6" type="body"/>
          </p:nvPr>
        </p:nvSpPr>
        <p:spPr>
          <a:xfrm>
            <a:off x="2757407" y="5127133"/>
            <a:ext cx="21051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  <a:defRPr sz="12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6"/>
          <p:cNvSpPr txBox="1"/>
          <p:nvPr>
            <p:ph idx="7" type="body"/>
          </p:nvPr>
        </p:nvSpPr>
        <p:spPr>
          <a:xfrm>
            <a:off x="471407" y="4770420"/>
            <a:ext cx="21051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6"/>
          <p:cNvSpPr txBox="1"/>
          <p:nvPr>
            <p:ph idx="8" type="body"/>
          </p:nvPr>
        </p:nvSpPr>
        <p:spPr>
          <a:xfrm>
            <a:off x="471407" y="5139298"/>
            <a:ext cx="21051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  <a:defRPr sz="12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6"/>
          <p:cNvSpPr txBox="1"/>
          <p:nvPr>
            <p:ph idx="9" type="body"/>
          </p:nvPr>
        </p:nvSpPr>
        <p:spPr>
          <a:xfrm>
            <a:off x="9615407" y="4758255"/>
            <a:ext cx="21051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6"/>
          <p:cNvSpPr txBox="1"/>
          <p:nvPr>
            <p:ph idx="13" type="body"/>
          </p:nvPr>
        </p:nvSpPr>
        <p:spPr>
          <a:xfrm>
            <a:off x="9615407" y="5127133"/>
            <a:ext cx="21051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  <a:defRPr sz="12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6"/>
          <p:cNvSpPr txBox="1"/>
          <p:nvPr>
            <p:ph idx="14" type="body"/>
          </p:nvPr>
        </p:nvSpPr>
        <p:spPr>
          <a:xfrm>
            <a:off x="7329407" y="4770420"/>
            <a:ext cx="21051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15" type="body"/>
          </p:nvPr>
        </p:nvSpPr>
        <p:spPr>
          <a:xfrm>
            <a:off x="7329407" y="5139298"/>
            <a:ext cx="21051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  <a:defRPr sz="12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28" name="Google Shape;128;p26"/>
          <p:cNvCxnSpPr/>
          <p:nvPr/>
        </p:nvCxnSpPr>
        <p:spPr>
          <a:xfrm>
            <a:off x="1513114" y="3875317"/>
            <a:ext cx="9111343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A7BA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A7BA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32" name="Google Shape;132;p26"/>
          <p:cNvCxnSpPr/>
          <p:nvPr/>
        </p:nvCxnSpPr>
        <p:spPr>
          <a:xfrm rot="10800000">
            <a:off x="6096000" y="2852057"/>
            <a:ext cx="0" cy="1643743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" name="Google Shape;133;p26"/>
          <p:cNvCxnSpPr/>
          <p:nvPr/>
        </p:nvCxnSpPr>
        <p:spPr>
          <a:xfrm rot="10800000">
            <a:off x="10611592" y="3872164"/>
            <a:ext cx="0" cy="623636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" name="Google Shape;134;p26"/>
          <p:cNvCxnSpPr/>
          <p:nvPr/>
        </p:nvCxnSpPr>
        <p:spPr>
          <a:xfrm rot="10800000">
            <a:off x="1513114" y="3872164"/>
            <a:ext cx="0" cy="623636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" name="Google Shape;135;p26"/>
          <p:cNvCxnSpPr/>
          <p:nvPr/>
        </p:nvCxnSpPr>
        <p:spPr>
          <a:xfrm rot="10800000">
            <a:off x="3815938" y="3872164"/>
            <a:ext cx="0" cy="623636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26"/>
          <p:cNvCxnSpPr/>
          <p:nvPr/>
        </p:nvCxnSpPr>
        <p:spPr>
          <a:xfrm rot="10800000">
            <a:off x="8381011" y="3872164"/>
            <a:ext cx="0" cy="623636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ight content">
  <p:cSld name="Title and right content">
    <p:bg>
      <p:bgPr>
        <a:solidFill>
          <a:schemeClr val="accent4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5669280" y="2376805"/>
            <a:ext cx="501396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5669280" y="4150042"/>
            <a:ext cx="5013960" cy="1961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27"/>
          <p:cNvSpPr/>
          <p:nvPr/>
        </p:nvSpPr>
        <p:spPr>
          <a:xfrm>
            <a:off x="0" y="0"/>
            <a:ext cx="417576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7"/>
          <p:cNvSpPr/>
          <p:nvPr/>
        </p:nvSpPr>
        <p:spPr>
          <a:xfrm flipH="1" rot="10800000">
            <a:off x="371856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9769C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9595D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9595D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">
  <p:cSld name="Closing slid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8"/>
          <p:cNvSpPr txBox="1"/>
          <p:nvPr>
            <p:ph type="ctrTitle"/>
          </p:nvPr>
        </p:nvSpPr>
        <p:spPr>
          <a:xfrm>
            <a:off x="838200" y="2313571"/>
            <a:ext cx="4419600" cy="16597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400"/>
              <a:buFont typeface="Arial"/>
              <a:buNone/>
              <a:defRPr b="1" sz="54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8"/>
          <p:cNvSpPr txBox="1"/>
          <p:nvPr>
            <p:ph idx="1" type="subTitle"/>
          </p:nvPr>
        </p:nvSpPr>
        <p:spPr>
          <a:xfrm>
            <a:off x="7772402" y="2348318"/>
            <a:ext cx="2743200" cy="16597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9" name="Google Shape;149;p28"/>
          <p:cNvSpPr txBox="1"/>
          <p:nvPr>
            <p:ph idx="10" type="dt"/>
          </p:nvPr>
        </p:nvSpPr>
        <p:spPr>
          <a:xfrm>
            <a:off x="838200" y="6356350"/>
            <a:ext cx="16328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A7BA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8"/>
          <p:cNvSpPr txBox="1"/>
          <p:nvPr>
            <p:ph idx="11" type="ftr"/>
          </p:nvPr>
        </p:nvSpPr>
        <p:spPr>
          <a:xfrm>
            <a:off x="2743200" y="6356350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A7BA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BFD9B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BFD9B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BFD9B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BFD9B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BFD9B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BFD9B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BFD9B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BFD9B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BFD9B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chemeClr val="accent5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9"/>
          <p:cNvSpPr/>
          <p:nvPr/>
        </p:nvSpPr>
        <p:spPr>
          <a:xfrm>
            <a:off x="0" y="6509657"/>
            <a:ext cx="12192000" cy="3483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9"/>
          <p:cNvSpPr txBox="1"/>
          <p:nvPr>
            <p:ph type="title"/>
          </p:nvPr>
        </p:nvSpPr>
        <p:spPr>
          <a:xfrm>
            <a:off x="831850" y="3429000"/>
            <a:ext cx="10515600" cy="30806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slide">
  <p:cSld name="Team slide">
    <p:bg>
      <p:bgPr>
        <a:solidFill>
          <a:schemeClr val="accent5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Font typeface="Arial"/>
              <a:buNone/>
              <a:defRPr b="1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0"/>
          <p:cNvSpPr/>
          <p:nvPr>
            <p:ph idx="2" type="pic"/>
          </p:nvPr>
        </p:nvSpPr>
        <p:spPr>
          <a:xfrm>
            <a:off x="1521612" y="2601972"/>
            <a:ext cx="1476000" cy="1476000"/>
          </a:xfrm>
          <a:prstGeom prst="rect">
            <a:avLst/>
          </a:prstGeom>
          <a:noFill/>
          <a:ln cap="sq" cmpd="sng" w="396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9" name="Google Shape;159;p30"/>
          <p:cNvSpPr/>
          <p:nvPr>
            <p:ph idx="3" type="pic"/>
          </p:nvPr>
        </p:nvSpPr>
        <p:spPr>
          <a:xfrm>
            <a:off x="4079382" y="2601972"/>
            <a:ext cx="1476000" cy="1476000"/>
          </a:xfrm>
          <a:prstGeom prst="rect">
            <a:avLst/>
          </a:prstGeom>
          <a:noFill/>
          <a:ln cap="sq" cmpd="sng" w="396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0" name="Google Shape;160;p30"/>
          <p:cNvSpPr/>
          <p:nvPr>
            <p:ph idx="4" type="pic"/>
          </p:nvPr>
        </p:nvSpPr>
        <p:spPr>
          <a:xfrm>
            <a:off x="6637152" y="2601972"/>
            <a:ext cx="1476000" cy="1476000"/>
          </a:xfrm>
          <a:prstGeom prst="rect">
            <a:avLst/>
          </a:prstGeom>
          <a:noFill/>
          <a:ln cap="sq" cmpd="sng" w="396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1" name="Google Shape;161;p30"/>
          <p:cNvSpPr/>
          <p:nvPr>
            <p:ph idx="5" type="pic"/>
          </p:nvPr>
        </p:nvSpPr>
        <p:spPr>
          <a:xfrm>
            <a:off x="9194922" y="2601972"/>
            <a:ext cx="1476000" cy="1476000"/>
          </a:xfrm>
          <a:prstGeom prst="rect">
            <a:avLst/>
          </a:prstGeom>
          <a:noFill/>
          <a:ln cap="sq" cmpd="sng" w="396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2" name="Google Shape;162;p30"/>
          <p:cNvSpPr txBox="1"/>
          <p:nvPr>
            <p:ph idx="1" type="body"/>
          </p:nvPr>
        </p:nvSpPr>
        <p:spPr>
          <a:xfrm>
            <a:off x="1214950" y="4624131"/>
            <a:ext cx="21051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30"/>
          <p:cNvSpPr txBox="1"/>
          <p:nvPr>
            <p:ph idx="6" type="body"/>
          </p:nvPr>
        </p:nvSpPr>
        <p:spPr>
          <a:xfrm>
            <a:off x="1214950" y="4993009"/>
            <a:ext cx="21051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  <a:defRPr sz="12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30"/>
          <p:cNvSpPr txBox="1"/>
          <p:nvPr>
            <p:ph idx="7" type="body"/>
          </p:nvPr>
        </p:nvSpPr>
        <p:spPr>
          <a:xfrm>
            <a:off x="3764623" y="4624131"/>
            <a:ext cx="21051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30"/>
          <p:cNvSpPr txBox="1"/>
          <p:nvPr>
            <p:ph idx="8" type="body"/>
          </p:nvPr>
        </p:nvSpPr>
        <p:spPr>
          <a:xfrm>
            <a:off x="3764623" y="4993009"/>
            <a:ext cx="21051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  <a:defRPr sz="12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30"/>
          <p:cNvSpPr txBox="1"/>
          <p:nvPr>
            <p:ph idx="9" type="body"/>
          </p:nvPr>
        </p:nvSpPr>
        <p:spPr>
          <a:xfrm>
            <a:off x="6314296" y="4624131"/>
            <a:ext cx="21051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30"/>
          <p:cNvSpPr txBox="1"/>
          <p:nvPr>
            <p:ph idx="13" type="body"/>
          </p:nvPr>
        </p:nvSpPr>
        <p:spPr>
          <a:xfrm>
            <a:off x="6314296" y="4993009"/>
            <a:ext cx="21051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  <a:defRPr sz="12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30"/>
          <p:cNvSpPr txBox="1"/>
          <p:nvPr>
            <p:ph idx="14" type="body"/>
          </p:nvPr>
        </p:nvSpPr>
        <p:spPr>
          <a:xfrm>
            <a:off x="8863969" y="4624131"/>
            <a:ext cx="21051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30"/>
          <p:cNvSpPr txBox="1"/>
          <p:nvPr>
            <p:ph idx="15" type="body"/>
          </p:nvPr>
        </p:nvSpPr>
        <p:spPr>
          <a:xfrm>
            <a:off x="8863969" y="4993009"/>
            <a:ext cx="21051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  <a:defRPr sz="12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A7BA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A7BA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A7BA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"/>
          <p:cNvSpPr txBox="1"/>
          <p:nvPr>
            <p:ph type="ctrTitle"/>
          </p:nvPr>
        </p:nvSpPr>
        <p:spPr>
          <a:xfrm>
            <a:off x="751115" y="457201"/>
            <a:ext cx="5739882" cy="31989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IN"/>
              <a:t>Retail Sales Analytics</a:t>
            </a:r>
            <a:endParaRPr/>
          </a:p>
        </p:txBody>
      </p:sp>
      <p:sp>
        <p:nvSpPr>
          <p:cNvPr id="178" name="Google Shape;178;p1"/>
          <p:cNvSpPr txBox="1"/>
          <p:nvPr>
            <p:ph idx="1" type="subTitle"/>
          </p:nvPr>
        </p:nvSpPr>
        <p:spPr>
          <a:xfrm>
            <a:off x="751115" y="3973284"/>
            <a:ext cx="5739882" cy="2427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b="1" lang="en-IN" sz="2000"/>
              <a:t>By:</a:t>
            </a:r>
            <a:br>
              <a:rPr b="1" lang="en-IN" sz="2000"/>
            </a:br>
            <a:r>
              <a:rPr b="1" lang="en-IN" sz="2000"/>
              <a:t>Srimathi 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"/>
          <p:cNvSpPr txBox="1"/>
          <p:nvPr>
            <p:ph type="title"/>
          </p:nvPr>
        </p:nvSpPr>
        <p:spPr>
          <a:xfrm>
            <a:off x="1632855" y="251618"/>
            <a:ext cx="932905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IN"/>
              <a:t>PROBLEM STATEMENT</a:t>
            </a:r>
            <a:endParaRPr/>
          </a:p>
        </p:txBody>
      </p:sp>
      <p:sp>
        <p:nvSpPr>
          <p:cNvPr id="184" name="Google Shape;184;p2"/>
          <p:cNvSpPr txBox="1"/>
          <p:nvPr/>
        </p:nvSpPr>
        <p:spPr>
          <a:xfrm>
            <a:off x="1719943" y="2024743"/>
            <a:ext cx="9851571" cy="236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ABC Electronics wants to evaluate </a:t>
            </a:r>
            <a:r>
              <a:rPr b="1" i="0" lang="en-I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sales performance</a:t>
            </a:r>
            <a:r>
              <a:rPr b="0" i="0" lang="en-I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across regions and product categories.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management needs </a:t>
            </a:r>
            <a:r>
              <a:rPr b="1"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visual insights</a:t>
            </a: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identify: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Top-performing regions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Product trends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Effect of discounts on profitability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b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clean, analyze, and visualize sales data for actionable business insights.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"/>
          <p:cNvSpPr txBox="1"/>
          <p:nvPr/>
        </p:nvSpPr>
        <p:spPr>
          <a:xfrm>
            <a:off x="1545771" y="1367614"/>
            <a:ext cx="9851571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TASK 1 &amp; 2: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Cleaning and Pre processing: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"/>
          <p:cNvSpPr txBox="1"/>
          <p:nvPr/>
        </p:nvSpPr>
        <p:spPr>
          <a:xfrm>
            <a:off x="1545771" y="81671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</a:pPr>
            <a:r>
              <a:rPr b="1" lang="en-IN" sz="3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TASKS:</a:t>
            </a:r>
            <a:endParaRPr/>
          </a:p>
        </p:txBody>
      </p:sp>
      <p:graphicFrame>
        <p:nvGraphicFramePr>
          <p:cNvPr id="191" name="Google Shape;191;p3"/>
          <p:cNvGraphicFramePr/>
          <p:nvPr/>
        </p:nvGraphicFramePr>
        <p:xfrm>
          <a:off x="1475012" y="265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{6E3E0F36-81BA-4EAE-BA2A-E1B38BB4F5F7}</a:tableStyleId>
              </a:tblPr>
              <a:tblGrid>
                <a:gridCol w="624575"/>
                <a:gridCol w="624575"/>
                <a:gridCol w="624575"/>
                <a:gridCol w="624575"/>
                <a:gridCol w="624575"/>
                <a:gridCol w="624575"/>
                <a:gridCol w="624575"/>
                <a:gridCol w="624575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Order ID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Order Date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Region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Product Category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Sales Amount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Quantity Sold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Discount (%)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Profit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ab899d2f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2023-04-06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norTh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100" u="none" cap="none" strike="noStrike"/>
                        <a:t>groceries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859.29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44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37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1653.87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73484eb1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2024-04-30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Mes$t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100" u="none" cap="none" strike="noStrike"/>
                        <a:t>groceries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1546.81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23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33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1932.71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19395924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2024-03-12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eAsT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100" u="none" cap="none" strike="noStrike"/>
                        <a:t>groceries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4703.58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31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15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527.47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b3fded3d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2024-02-09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eAsT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100" u="none" cap="none" strike="noStrike"/>
                        <a:t>groceries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3377.17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47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3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482.65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6e4bdd51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2024-07-29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$0uTH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100" u="none" cap="none" strike="noStrike"/>
                        <a:t>Cloth 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3517.49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6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28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748.72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21d88d69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2023-08-26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eAsT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100" u="none" cap="none" strike="noStrike"/>
                        <a:t>FURNiture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362.55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19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50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314.71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9da2704d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2024-10-07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eAsT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100" u="none" cap="none" strike="noStrike"/>
                        <a:t>sports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4811.17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22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18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1372.89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</a:tr>
            </a:tbl>
          </a:graphicData>
        </a:graphic>
      </p:graphicFrame>
      <p:cxnSp>
        <p:nvCxnSpPr>
          <p:cNvPr id="192" name="Google Shape;192;p3"/>
          <p:cNvCxnSpPr/>
          <p:nvPr/>
        </p:nvCxnSpPr>
        <p:spPr>
          <a:xfrm>
            <a:off x="6559836" y="3895725"/>
            <a:ext cx="827315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aphicFrame>
        <p:nvGraphicFramePr>
          <p:cNvPr id="193" name="Google Shape;193;p3"/>
          <p:cNvGraphicFramePr/>
          <p:nvPr/>
        </p:nvGraphicFramePr>
        <p:xfrm>
          <a:off x="7475431" y="265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{6E3E0F36-81BA-4EAE-BA2A-E1B38BB4F5F7}</a:tableStyleId>
              </a:tblPr>
              <a:tblGrid>
                <a:gridCol w="524500"/>
                <a:gridCol w="524500"/>
                <a:gridCol w="524500"/>
                <a:gridCol w="741775"/>
                <a:gridCol w="606925"/>
                <a:gridCol w="599425"/>
                <a:gridCol w="569450"/>
                <a:gridCol w="524500"/>
              </a:tblGrid>
              <a:tr h="247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Order ID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Order Date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Region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Product Category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Sales Amount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Quantity Sold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Discount (%)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Profit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</a:tr>
              <a:tr h="25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ab899d2f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2023-04-06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North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100" u="none" cap="none" strike="noStrike"/>
                        <a:t>Groceries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859.29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44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37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1653.87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</a:tr>
              <a:tr h="25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73484eb1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2024-04-30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West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100" u="none" cap="none" strike="noStrike"/>
                        <a:t>Groceries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1546.81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23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33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1932.71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</a:tr>
              <a:tr h="25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19395924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2024-03-12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East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100" u="none" cap="none" strike="noStrike"/>
                        <a:t>Groceries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4703.58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31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15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527.47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</a:tr>
              <a:tr h="25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b3fded3d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2024-02-09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East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100" u="none" cap="none" strike="noStrike"/>
                        <a:t>Groceries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3377.17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47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3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482.65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</a:tr>
              <a:tr h="25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6e4bdd51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2024-07-29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South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100" u="none" cap="none" strike="noStrike"/>
                        <a:t>Clothing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3517.49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6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28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748.72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</a:tr>
              <a:tr h="25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21d88d69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2023-08-26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East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100" u="none" cap="none" strike="noStrike"/>
                        <a:t>Furniture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362.55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19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50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314.71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</a:tr>
              <a:tr h="25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9da2704d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2024-10-07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East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100" u="none" cap="none" strike="noStrike"/>
                        <a:t>Sports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4811.17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22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18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1372.89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</a:tr>
            </a:tbl>
          </a:graphicData>
        </a:graphic>
      </p:graphicFrame>
      <p:sp>
        <p:nvSpPr>
          <p:cNvPr id="194" name="Google Shape;194;p3"/>
          <p:cNvSpPr txBox="1"/>
          <p:nvPr/>
        </p:nvSpPr>
        <p:spPr>
          <a:xfrm>
            <a:off x="1475012" y="5562600"/>
            <a:ext cx="967195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There were misalignment issues with OrderID column re aligned it, Major errors and misspelled words in Product Category and Region – filtered the columns and Replaced them with correct words.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"/>
          <p:cNvSpPr txBox="1"/>
          <p:nvPr/>
        </p:nvSpPr>
        <p:spPr>
          <a:xfrm>
            <a:off x="1491342" y="485871"/>
            <a:ext cx="8479972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Used</a:t>
            </a:r>
            <a:r>
              <a:rPr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Power Query for </a:t>
            </a:r>
            <a:r>
              <a:rPr b="1" lang="en-IN" sz="20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Searching and Filtering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– Get &amp; Transform Data – Load from Table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Power Query Editor  – Filtering for Region “South”, Product Category –”Electronics” for the year 2024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Loaded data back in Excel.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1523" y="3167232"/>
            <a:ext cx="7354326" cy="3385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"/>
          <p:cNvSpPr txBox="1"/>
          <p:nvPr/>
        </p:nvSpPr>
        <p:spPr>
          <a:xfrm>
            <a:off x="1491342" y="485871"/>
            <a:ext cx="8479972" cy="3600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Used</a:t>
            </a: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Power Query for </a:t>
            </a:r>
            <a:r>
              <a:rPr b="1" lang="en-IN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Merging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– Get &amp; Transform Data – Load from Table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Power Query Editor  – Created a new query named ‘Average Sales’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Group by: Region, New column name: Average Sales, Operation: Average, Column: Sales Amount.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Merge Queries – Region – Left Outer.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Loaded data back in Excel.</a:t>
            </a:r>
            <a:endParaRPr/>
          </a:p>
        </p:txBody>
      </p:sp>
      <p:graphicFrame>
        <p:nvGraphicFramePr>
          <p:cNvPr id="206" name="Google Shape;206;p5"/>
          <p:cNvGraphicFramePr/>
          <p:nvPr/>
        </p:nvGraphicFramePr>
        <p:xfrm>
          <a:off x="1491342" y="470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{6E3E0F36-81BA-4EAE-BA2A-E1B38BB4F5F7}</a:tableStyleId>
              </a:tblPr>
              <a:tblGrid>
                <a:gridCol w="923650"/>
                <a:gridCol w="1158025"/>
                <a:gridCol w="689300"/>
                <a:gridCol w="1392375"/>
                <a:gridCol w="1130450"/>
                <a:gridCol w="1130450"/>
                <a:gridCol w="1075300"/>
                <a:gridCol w="592800"/>
                <a:gridCol w="1220050"/>
                <a:gridCol w="441150"/>
              </a:tblGrid>
              <a:tr h="15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Order ID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Order Date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Region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Product Category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Sales Amount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Quantity Sold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Discount (%)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Profit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Region Average.AverageSales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 hMerge="1"/>
              </a:tr>
              <a:tr h="15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ab899d2f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06-04-2023 00:00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North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Groceries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859.29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44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37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1653.87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2573.119554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</a:tr>
              <a:tr h="15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73484eb1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30-04-2024 00:00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West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Groceries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1546.81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23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33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1932.71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2535.998906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</a:tr>
              <a:tr h="15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19395924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12-03-2024 00:00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East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Groceries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4703.58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31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15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527.47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2507.726068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</a:tr>
              <a:tr h="15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b3fded3d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09-02-2024 00:00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East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Groceries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3377.17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47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3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482.65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2507.726068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 txBox="1"/>
          <p:nvPr/>
        </p:nvSpPr>
        <p:spPr>
          <a:xfrm>
            <a:off x="1491342" y="485871"/>
            <a:ext cx="8479972" cy="581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 4: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AutoNum type="alphaLcPeriod"/>
            </a:pPr>
            <a:r>
              <a:rPr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Calculate total sales for each region using the SUM formula.</a:t>
            </a:r>
            <a:endParaRPr/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=SUMIFS(Sales Amount,Region,”North”)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b. Compute the average discount percentage and profit for the "Furniture" category using AVERAGE.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=AVERAGEIFS(Discount,Product Category,"Furniture")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=AVERAGEIFS(Profit,Product Category,"Furniture")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2" name="Google Shape;212;p6"/>
          <p:cNvGraphicFramePr/>
          <p:nvPr/>
        </p:nvGraphicFramePr>
        <p:xfrm>
          <a:off x="1621971" y="22863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{6E3E0F36-81BA-4EAE-BA2A-E1B38BB4F5F7}</a:tableStyleId>
              </a:tblPr>
              <a:tblGrid>
                <a:gridCol w="1460500"/>
                <a:gridCol w="125730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Region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Total Sales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North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₹ 25,39,669.00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South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₹ 24,94,411.28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East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₹ 25,95,496.48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West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₹ 24,80,206.93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ctr"/>
                </a:tc>
              </a:tr>
            </a:tbl>
          </a:graphicData>
        </a:graphic>
      </p:graphicFrame>
      <p:graphicFrame>
        <p:nvGraphicFramePr>
          <p:cNvPr id="213" name="Google Shape;213;p6"/>
          <p:cNvGraphicFramePr/>
          <p:nvPr/>
        </p:nvGraphicFramePr>
        <p:xfrm>
          <a:off x="1621971" y="53884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{6E3E0F36-81BA-4EAE-BA2A-E1B38BB4F5F7}</a:tableStyleId>
              </a:tblPr>
              <a:tblGrid>
                <a:gridCol w="1460500"/>
                <a:gridCol w="125730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Metric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Value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Avg Discount %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₹ 25.23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Avg Profit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IN" sz="1000" u="none" cap="none" strike="noStrike"/>
                        <a:t>₹ 1,023.38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" marB="0" marR="6350" marL="63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/>
          <p:nvPr/>
        </p:nvSpPr>
        <p:spPr>
          <a:xfrm>
            <a:off x="1491342" y="485871"/>
            <a:ext cx="8479972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 5: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Create a Pivot Table to summarize total sales and profit by region and product category. Add slicers to filter by region or category dynamically.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9407" y="2123366"/>
            <a:ext cx="3704757" cy="358074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7"/>
          <p:cNvSpPr txBox="1"/>
          <p:nvPr/>
        </p:nvSpPr>
        <p:spPr>
          <a:xfrm>
            <a:off x="5731328" y="2124813"/>
            <a:ext cx="6096000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Observation: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East region recorded the highest sales (₹25.95 lakh) and profit (₹10.51 lakh).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South and North regions followed closely with ₹24.94 lakh and ₹25.39 lakh in sales, respectively.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West region showed the lowest sales (₹24.80 lakh) and profit (₹9.98 lakh).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Clothing and Furniture together contribute over 40% of total sales, while Sports remains the least profitable category.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"/>
          <p:cNvSpPr txBox="1"/>
          <p:nvPr/>
        </p:nvSpPr>
        <p:spPr>
          <a:xfrm>
            <a:off x="1491342" y="485871"/>
            <a:ext cx="84799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 6:</a:t>
            </a:r>
            <a:endParaRPr/>
          </a:p>
        </p:txBody>
      </p:sp>
      <p:pic>
        <p:nvPicPr>
          <p:cNvPr id="227" name="Google Shape;2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1342" y="1150883"/>
            <a:ext cx="4172532" cy="1324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1342" y="3349408"/>
            <a:ext cx="2972215" cy="253400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8"/>
          <p:cNvSpPr txBox="1"/>
          <p:nvPr/>
        </p:nvSpPr>
        <p:spPr>
          <a:xfrm>
            <a:off x="5798782" y="350246"/>
            <a:ext cx="6393218" cy="5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Total Sales by Region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I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East region recorded the highest sales of ₹25.95 lakh, indicating strong market performance.</a:t>
            </a:r>
            <a:endParaRPr/>
          </a:p>
          <a:p>
            <a:pPr indent="-2413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I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West region showed the lowest sales (₹24.80 lakh), highlighting scope for improvement.</a:t>
            </a:r>
            <a:endParaRPr/>
          </a:p>
          <a:p>
            <a:pPr indent="-2413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Product Sales Contribution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I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Electronics (21%) contributes the largest share to total sales.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I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Groceries (18%) has the smallest share, suggesting lower demand or limited inventory.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Overall Insights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I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Focus marketing and sales strategies on improving West region and Groceries category performance.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I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Maintain and strengthen Electronics sales, which are driving the company’s top-line growth.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 txBox="1"/>
          <p:nvPr/>
        </p:nvSpPr>
        <p:spPr>
          <a:xfrm>
            <a:off x="1491342" y="0"/>
            <a:ext cx="8479972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 7: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Perform a simple regression analysis to understand the impact of Discount (%) on Sales Amount. Use a scatter plot to visualize the relationship.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454" y="1493852"/>
            <a:ext cx="5368517" cy="481558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9"/>
          <p:cNvSpPr txBox="1"/>
          <p:nvPr/>
        </p:nvSpPr>
        <p:spPr>
          <a:xfrm>
            <a:off x="7204483" y="1443841"/>
            <a:ext cx="49875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 u="sng">
                <a:solidFill>
                  <a:schemeClr val="lt1"/>
                </a:solidFill>
              </a:rPr>
              <a:t>Observations</a:t>
            </a:r>
            <a:endParaRPr b="1" sz="1800" u="sng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R² = 0.0003 → almost no link between discount and sales.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p-value (0.27) → discount impact not significant.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Small positive slope (1.71) → minimal sales change with discount.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 u="sng">
                <a:solidFill>
                  <a:schemeClr val="lt1"/>
                </a:solidFill>
              </a:rPr>
              <a:t>Insights</a:t>
            </a:r>
            <a:endParaRPr b="1" sz="1800" u="sng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Increasing discounts does not meaningfully boost sales.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Focus should shift from offering discounts to enhancing marketing, product value, or regional targeting, which may have a stronger influence on sales performance.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"/>
          <p:cNvSpPr txBox="1"/>
          <p:nvPr/>
        </p:nvSpPr>
        <p:spPr>
          <a:xfrm>
            <a:off x="1491342" y="485871"/>
            <a:ext cx="8479972" cy="1415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 8: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Create a stacked bar chart showing total sales by region and product category.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5771" y="1699971"/>
            <a:ext cx="6982799" cy="289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0"/>
          <p:cNvSpPr txBox="1"/>
          <p:nvPr/>
        </p:nvSpPr>
        <p:spPr>
          <a:xfrm>
            <a:off x="1654629" y="5061857"/>
            <a:ext cx="8077200" cy="1197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South and West regions lead in total sales, each exceeding ₹26 lakh.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Clothing and Electronics are top-selling categories, driving the bulk of revenue across all regions.</a:t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"/>
          <p:cNvSpPr txBox="1"/>
          <p:nvPr/>
        </p:nvSpPr>
        <p:spPr>
          <a:xfrm>
            <a:off x="1491342" y="485871"/>
            <a:ext cx="847997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 9: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6533" y="4015995"/>
            <a:ext cx="3724795" cy="2200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6533" y="1109509"/>
            <a:ext cx="3724795" cy="220058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 txBox="1"/>
          <p:nvPr/>
        </p:nvSpPr>
        <p:spPr>
          <a:xfrm>
            <a:off x="6460673" y="1045931"/>
            <a:ext cx="5382983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Seasonal Analysis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Peak sales occurred around March, August, and November, showing festive or seasonal demand.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Sales dip significantly toward year-end months like December and January.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"/>
          <p:cNvSpPr txBox="1"/>
          <p:nvPr/>
        </p:nvSpPr>
        <p:spPr>
          <a:xfrm>
            <a:off x="6460673" y="3631254"/>
            <a:ext cx="5382983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Product Category Contribution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Order counts dropped in 2024 across all categories compared to 2023.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Clothing and Electronics lead in both years, showing strong customer preference.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"/>
          <p:cNvSpPr txBox="1"/>
          <p:nvPr/>
        </p:nvSpPr>
        <p:spPr>
          <a:xfrm>
            <a:off x="1491342" y="485871"/>
            <a:ext cx="847997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 9: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6533" y="1174833"/>
            <a:ext cx="3734321" cy="2048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6533" y="3781327"/>
            <a:ext cx="3734321" cy="243441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2"/>
          <p:cNvSpPr txBox="1"/>
          <p:nvPr/>
        </p:nvSpPr>
        <p:spPr>
          <a:xfrm>
            <a:off x="6451149" y="1031520"/>
            <a:ext cx="4717594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Sales Pattern by Region and Product Category 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South and East regions consistently outperform others across all categories.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North region shows the lowest overall sales spread.</a:t>
            </a:r>
            <a:endParaRPr/>
          </a:p>
        </p:txBody>
      </p:sp>
      <p:sp>
        <p:nvSpPr>
          <p:cNvPr id="261" name="Google Shape;261;p12"/>
          <p:cNvSpPr txBox="1"/>
          <p:nvPr/>
        </p:nvSpPr>
        <p:spPr>
          <a:xfrm>
            <a:off x="6570892" y="3781327"/>
            <a:ext cx="4717594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Product Category vs Regions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Clothing and Electronics dominate sales across all regions.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West and South have a more balanced contribution among product types.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"/>
          <p:cNvSpPr txBox="1"/>
          <p:nvPr/>
        </p:nvSpPr>
        <p:spPr>
          <a:xfrm>
            <a:off x="1491342" y="485871"/>
            <a:ext cx="847997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 9: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6258" y="1198617"/>
            <a:ext cx="3886742" cy="2457793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3"/>
          <p:cNvSpPr txBox="1"/>
          <p:nvPr/>
        </p:nvSpPr>
        <p:spPr>
          <a:xfrm>
            <a:off x="5910943" y="1198617"/>
            <a:ext cx="60960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Moderate discounts (10–19%) may reflect a strategic pricing sweet spot, where customer interest is retained without significantly compromising profit margins.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simultaneous decline in both sales and profit at higher discount levels suggests possible over-discounting, which could be devaluing the product or attracting low-margin transactions.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"/>
          <p:cNvSpPr txBox="1"/>
          <p:nvPr/>
        </p:nvSpPr>
        <p:spPr>
          <a:xfrm>
            <a:off x="1491342" y="485871"/>
            <a:ext cx="847997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Task 10: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1343" y="1014728"/>
            <a:ext cx="6128658" cy="522042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4"/>
          <p:cNvSpPr txBox="1"/>
          <p:nvPr/>
        </p:nvSpPr>
        <p:spPr>
          <a:xfrm>
            <a:off x="8088086" y="1034534"/>
            <a:ext cx="3037114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Conditional Formatting: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Formula where the (profit margin&gt;0.5)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Colour Code to Highlight.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Second Formula where the (Sales Amount &gt; 4000)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n-IN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Different Colour coding.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"/>
          <p:cNvSpPr txBox="1"/>
          <p:nvPr>
            <p:ph type="title"/>
          </p:nvPr>
        </p:nvSpPr>
        <p:spPr>
          <a:xfrm>
            <a:off x="511629" y="-500743"/>
            <a:ext cx="5684520" cy="1639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Font typeface="Arial"/>
              <a:buNone/>
            </a:pPr>
            <a:r>
              <a:rPr lang="en-IN"/>
              <a:t>Actionable Insights:</a:t>
            </a:r>
            <a:endParaRPr/>
          </a:p>
        </p:txBody>
      </p:sp>
      <p:sp>
        <p:nvSpPr>
          <p:cNvPr id="281" name="Google Shape;2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7/29/20XX</a:t>
            </a:r>
            <a:endParaRPr/>
          </a:p>
        </p:txBody>
      </p:sp>
      <p:sp>
        <p:nvSpPr>
          <p:cNvPr id="282" name="Google Shape;2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Employee orientation</a:t>
            </a:r>
            <a:endParaRPr/>
          </a:p>
        </p:txBody>
      </p:sp>
      <p:sp>
        <p:nvSpPr>
          <p:cNvPr id="283" name="Google Shape;28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284" name="Google Shape;284;p15"/>
          <p:cNvGrpSpPr/>
          <p:nvPr/>
        </p:nvGrpSpPr>
        <p:grpSpPr>
          <a:xfrm>
            <a:off x="39600" y="1138926"/>
            <a:ext cx="11945232" cy="5217549"/>
            <a:chOff x="0" y="43827"/>
            <a:chExt cx="11147100" cy="4713659"/>
          </a:xfrm>
        </p:grpSpPr>
        <p:sp>
          <p:nvSpPr>
            <p:cNvPr id="285" name="Google Shape;285;p15"/>
            <p:cNvSpPr/>
            <p:nvPr/>
          </p:nvSpPr>
          <p:spPr>
            <a:xfrm>
              <a:off x="0" y="43827"/>
              <a:ext cx="11146972" cy="503685"/>
            </a:xfrm>
            <a:prstGeom prst="roundRect">
              <a:avLst>
                <a:gd fmla="val 16667" name="adj"/>
              </a:avLst>
            </a:prstGeom>
            <a:solidFill>
              <a:srgbClr val="61A25C"/>
            </a:solidFill>
            <a:ln cap="flat" cmpd="sng" w="136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7975" lIns="97975" spcFirstLastPara="1" rIns="97975" wrap="square" tIns="97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 txBox="1"/>
            <p:nvPr/>
          </p:nvSpPr>
          <p:spPr>
            <a:xfrm>
              <a:off x="24588" y="68415"/>
              <a:ext cx="11097796" cy="454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5725" lIns="85725" spcFirstLastPara="1" rIns="85725" wrap="square" tIns="8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50"/>
                <a:buFont typeface="Arial"/>
                <a:buNone/>
              </a:pPr>
              <a:r>
                <a:rPr lang="en-IN" sz="215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Prioritize High-Performing Regions:</a:t>
              </a:r>
              <a:endParaRPr sz="21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0" y="547512"/>
              <a:ext cx="11146972" cy="347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975" lIns="97975" spcFirstLastPara="1" rIns="97975" wrap="square" tIns="97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5"/>
            <p:cNvSpPr txBox="1"/>
            <p:nvPr/>
          </p:nvSpPr>
          <p:spPr>
            <a:xfrm>
              <a:off x="0" y="547505"/>
              <a:ext cx="11147100" cy="5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50" lIns="379250" spcFirstLastPara="1" rIns="160050" wrap="square" tIns="28550">
              <a:noAutofit/>
            </a:bodyPr>
            <a:lstStyle/>
            <a:p>
              <a:pPr indent="-177384" lvl="1" marL="18373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15"/>
                <a:buFont typeface="Arial"/>
                <a:buChar char="•"/>
              </a:pPr>
              <a:r>
                <a:rPr b="0" i="0" lang="en-IN" sz="1614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Focus sales and marketing efforts on South and East regions, as they consistently record higher sales across categories.</a:t>
              </a:r>
              <a:endParaRPr b="0" i="0" sz="16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0" y="895272"/>
              <a:ext cx="11146972" cy="503685"/>
            </a:xfrm>
            <a:prstGeom prst="roundRect">
              <a:avLst>
                <a:gd fmla="val 16667" name="adj"/>
              </a:avLst>
            </a:prstGeom>
            <a:solidFill>
              <a:srgbClr val="61A25C"/>
            </a:solidFill>
            <a:ln cap="flat" cmpd="sng" w="136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7975" lIns="97975" spcFirstLastPara="1" rIns="97975" wrap="square" tIns="97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5"/>
            <p:cNvSpPr txBox="1"/>
            <p:nvPr/>
          </p:nvSpPr>
          <p:spPr>
            <a:xfrm>
              <a:off x="24588" y="919860"/>
              <a:ext cx="11097796" cy="454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5725" lIns="85725" spcFirstLastPara="1" rIns="85725" wrap="square" tIns="8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50"/>
                <a:buFont typeface="Arial"/>
                <a:buNone/>
              </a:pPr>
              <a:r>
                <a:rPr lang="en-IN" sz="225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Boost Key Product Categories:</a:t>
              </a:r>
              <a:endParaRPr sz="22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0" y="1398957"/>
              <a:ext cx="11146972" cy="4999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975" lIns="97975" spcFirstLastPara="1" rIns="97975" wrap="square" tIns="97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5"/>
            <p:cNvSpPr txBox="1"/>
            <p:nvPr/>
          </p:nvSpPr>
          <p:spPr>
            <a:xfrm>
              <a:off x="0" y="1398957"/>
              <a:ext cx="11146972" cy="4999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50" lIns="379250" spcFirstLastPara="1" rIns="160050" wrap="square" tIns="28550">
              <a:noAutofit/>
            </a:bodyPr>
            <a:lstStyle/>
            <a:p>
              <a:pPr indent="-177384" lvl="1" marL="18373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15"/>
                <a:buFont typeface="Arial"/>
                <a:buChar char="•"/>
              </a:pPr>
              <a:r>
                <a:rPr b="0" i="0" lang="en-IN" sz="1614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Clothing and Electronics dominate across years and regions — expand inventory, introduce new models, and target repeat buyers in these categories.</a:t>
              </a:r>
              <a:endParaRPr b="0" i="0" sz="16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0" y="1898862"/>
              <a:ext cx="11146972" cy="503685"/>
            </a:xfrm>
            <a:prstGeom prst="roundRect">
              <a:avLst>
                <a:gd fmla="val 16667" name="adj"/>
              </a:avLst>
            </a:prstGeom>
            <a:solidFill>
              <a:srgbClr val="61A25C"/>
            </a:solidFill>
            <a:ln cap="flat" cmpd="sng" w="136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7975" lIns="97975" spcFirstLastPara="1" rIns="97975" wrap="square" tIns="97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5"/>
            <p:cNvSpPr txBox="1"/>
            <p:nvPr/>
          </p:nvSpPr>
          <p:spPr>
            <a:xfrm>
              <a:off x="24588" y="1923450"/>
              <a:ext cx="11097796" cy="454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5725" lIns="85725" spcFirstLastPara="1" rIns="85725" wrap="square" tIns="8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50"/>
                <a:buFont typeface="Arial"/>
                <a:buNone/>
              </a:pPr>
              <a:r>
                <a:rPr lang="en-IN" sz="225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Seasonal Promotion Strategy:</a:t>
              </a:r>
              <a:endParaRPr sz="22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0" y="2402547"/>
              <a:ext cx="11146972" cy="347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975" lIns="97975" spcFirstLastPara="1" rIns="97975" wrap="square" tIns="97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5"/>
            <p:cNvSpPr txBox="1"/>
            <p:nvPr/>
          </p:nvSpPr>
          <p:spPr>
            <a:xfrm>
              <a:off x="0" y="2402547"/>
              <a:ext cx="11146972" cy="347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50" lIns="379250" spcFirstLastPara="1" rIns="160050" wrap="square" tIns="28550">
              <a:noAutofit/>
            </a:bodyPr>
            <a:lstStyle/>
            <a:p>
              <a:pPr indent="-177384" lvl="1" marL="18373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15"/>
                <a:buFont typeface="Arial"/>
                <a:buChar char="•"/>
              </a:pPr>
              <a:r>
                <a:rPr b="0" i="0" lang="en-IN" sz="1614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Plan discounts and campaigns in March, August, and November, when customer spending is highest, to maximize returns.</a:t>
              </a:r>
              <a:endParaRPr b="0" i="0" sz="16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0" y="2750307"/>
              <a:ext cx="11146972" cy="503685"/>
            </a:xfrm>
            <a:prstGeom prst="roundRect">
              <a:avLst>
                <a:gd fmla="val 16667" name="adj"/>
              </a:avLst>
            </a:prstGeom>
            <a:solidFill>
              <a:srgbClr val="61A25C"/>
            </a:solidFill>
            <a:ln cap="flat" cmpd="sng" w="136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7975" lIns="97975" spcFirstLastPara="1" rIns="97975" wrap="square" tIns="97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5"/>
            <p:cNvSpPr txBox="1"/>
            <p:nvPr/>
          </p:nvSpPr>
          <p:spPr>
            <a:xfrm>
              <a:off x="24588" y="2774895"/>
              <a:ext cx="11097796" cy="454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5725" lIns="85725" spcFirstLastPara="1" rIns="85725" wrap="square" tIns="8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50"/>
                <a:buFont typeface="Arial"/>
                <a:buNone/>
              </a:pPr>
              <a:r>
                <a:rPr lang="en-IN" sz="225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Optimize Discount Policies:</a:t>
              </a:r>
              <a:endParaRPr sz="22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0" y="3253992"/>
              <a:ext cx="11146972" cy="4999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975" lIns="97975" spcFirstLastPara="1" rIns="97975" wrap="square" tIns="97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5"/>
            <p:cNvSpPr txBox="1"/>
            <p:nvPr/>
          </p:nvSpPr>
          <p:spPr>
            <a:xfrm>
              <a:off x="0" y="3253992"/>
              <a:ext cx="11146972" cy="4999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50" lIns="379250" spcFirstLastPara="1" rIns="160050" wrap="square" tIns="28550">
              <a:noAutofit/>
            </a:bodyPr>
            <a:lstStyle/>
            <a:p>
              <a:pPr indent="-177384" lvl="1" marL="18373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15"/>
                <a:buFont typeface="Arial"/>
                <a:buChar char="•"/>
              </a:pPr>
              <a:r>
                <a:rPr b="0" i="0" lang="en-IN" sz="1614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Regression analysis shows no strong link between discount and sales — reduce unnecessary discounting and redirect efforts toward value-driven promotions.</a:t>
              </a:r>
              <a:endParaRPr b="0" i="0" sz="16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0" y="3753897"/>
              <a:ext cx="11146972" cy="503685"/>
            </a:xfrm>
            <a:prstGeom prst="roundRect">
              <a:avLst>
                <a:gd fmla="val 16667" name="adj"/>
              </a:avLst>
            </a:prstGeom>
            <a:solidFill>
              <a:srgbClr val="61A25C"/>
            </a:solidFill>
            <a:ln cap="flat" cmpd="sng" w="136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7975" lIns="97975" spcFirstLastPara="1" rIns="97975" wrap="square" tIns="97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5"/>
            <p:cNvSpPr txBox="1"/>
            <p:nvPr/>
          </p:nvSpPr>
          <p:spPr>
            <a:xfrm>
              <a:off x="24588" y="3778485"/>
              <a:ext cx="11097796" cy="454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5725" lIns="85725" spcFirstLastPara="1" rIns="85725" wrap="square" tIns="85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50"/>
                <a:buFont typeface="Arial"/>
                <a:buNone/>
              </a:pPr>
              <a:r>
                <a:rPr lang="en-IN" sz="225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Recover Declining Product Performance:</a:t>
              </a:r>
              <a:endParaRPr sz="22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0" y="4257582"/>
              <a:ext cx="11146972" cy="4999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7975" lIns="97975" spcFirstLastPara="1" rIns="97975" wrap="square" tIns="97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5"/>
            <p:cNvSpPr txBox="1"/>
            <p:nvPr/>
          </p:nvSpPr>
          <p:spPr>
            <a:xfrm>
              <a:off x="0" y="4257582"/>
              <a:ext cx="11146972" cy="4999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50" lIns="379250" spcFirstLastPara="1" rIns="160050" wrap="square" tIns="28550">
              <a:noAutofit/>
            </a:bodyPr>
            <a:lstStyle/>
            <a:p>
              <a:pPr indent="-177384" lvl="1" marL="18373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15"/>
                <a:buFont typeface="Arial"/>
                <a:buChar char="•"/>
              </a:pPr>
              <a:r>
                <a:rPr b="0" i="0" lang="en-IN" sz="1614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Since 2024 saw a drop in order counts across categories, refresh underperforming product lines (like Furniture and Sports) with bundle offers or cross-category marketing.</a:t>
              </a:r>
              <a:endParaRPr b="0" i="0" sz="161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Custom 18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2A25D"/>
      </a:accent1>
      <a:accent2>
        <a:srgbClr val="A0DADE"/>
      </a:accent2>
      <a:accent3>
        <a:srgbClr val="CCB5E5"/>
      </a:accent3>
      <a:accent4>
        <a:srgbClr val="29285D"/>
      </a:accent4>
      <a:accent5>
        <a:srgbClr val="EDF1F2"/>
      </a:accent5>
      <a:accent6>
        <a:srgbClr val="70AD47"/>
      </a:accent6>
      <a:hlink>
        <a:srgbClr val="A0DADE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2024-04-29T16:46:59Z</dcterms:created>
  <dc:creator>Srimathi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